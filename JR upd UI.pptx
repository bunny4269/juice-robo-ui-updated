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137" autoAdjust="0"/>
  </p:normalViewPr>
  <p:slideViewPr>
    <p:cSldViewPr snapToGrid="0" snapToObjects="1">
      <p:cViewPr varScale="1">
        <p:scale>
          <a:sx n="68" d="100"/>
          <a:sy n="68" d="100"/>
        </p:scale>
        <p:origin x="12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20FECC-27C3-4231-A3EB-2E6A445D0E01}" type="datetimeFigureOut">
              <a:rPr lang="en-IN" smtClean="0"/>
              <a:t>27-10-2026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2D5A53-C290-4B1D-A0F6-7B09613EA955}" type="slidenum">
              <a:rPr lang="en-IN" smtClean="0"/>
              <a:t>‹#›</a:t>
            </a:fld>
            <a:endParaRPr lang="en-IN"/>
          </a:p>
        </p:txBody>
      </p:sp>
    </p:spTree>
    <p:extLst>
      <p:ext uri="{BB962C8B-B14F-4D97-AF65-F5344CB8AC3E}">
        <p14:creationId xmlns:p14="http://schemas.microsoft.com/office/powerpoint/2010/main" val="3307857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to create a modern, mobile-friendly customer interface while continuing to use the existing Juice Robo e-commerce backend.”</a:t>
            </a:r>
          </a:p>
          <a:p>
            <a:endParaRPr lang="en-IN" dirty="0"/>
          </a:p>
        </p:txBody>
      </p:sp>
      <p:sp>
        <p:nvSpPr>
          <p:cNvPr id="4" name="Slide Number Placeholder 3"/>
          <p:cNvSpPr>
            <a:spLocks noGrp="1"/>
          </p:cNvSpPr>
          <p:nvPr>
            <p:ph type="sldNum" sz="quarter" idx="5"/>
          </p:nvPr>
        </p:nvSpPr>
        <p:spPr/>
        <p:txBody>
          <a:bodyPr/>
          <a:lstStyle/>
          <a:p>
            <a:fld id="{302D5A53-C290-4B1D-A0F6-7B09613EA955}" type="slidenum">
              <a:rPr lang="en-IN" smtClean="0"/>
              <a:t>1</a:t>
            </a:fld>
            <a:endParaRPr lang="en-IN"/>
          </a:p>
        </p:txBody>
      </p:sp>
    </p:spTree>
    <p:extLst>
      <p:ext uri="{BB962C8B-B14F-4D97-AF65-F5344CB8AC3E}">
        <p14:creationId xmlns:p14="http://schemas.microsoft.com/office/powerpoint/2010/main" val="194079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scope is to redesign the existing frontend without replacing the backend. We are reusing the existing APIs, business logic, and order-processing system while improving the user interface, navigation, and overall customer experience.</a:t>
            </a:r>
            <a:endParaRPr lang="en-IN" dirty="0"/>
          </a:p>
        </p:txBody>
      </p:sp>
      <p:sp>
        <p:nvSpPr>
          <p:cNvPr id="4" name="Slide Number Placeholder 3"/>
          <p:cNvSpPr>
            <a:spLocks noGrp="1"/>
          </p:cNvSpPr>
          <p:nvPr>
            <p:ph type="sldNum" sz="quarter" idx="5"/>
          </p:nvPr>
        </p:nvSpPr>
        <p:spPr/>
        <p:txBody>
          <a:bodyPr/>
          <a:lstStyle/>
          <a:p>
            <a:fld id="{302D5A53-C290-4B1D-A0F6-7B09613EA955}" type="slidenum">
              <a:rPr lang="en-IN" smtClean="0"/>
              <a:t>2</a:t>
            </a:fld>
            <a:endParaRPr lang="en-IN"/>
          </a:p>
        </p:txBody>
      </p:sp>
    </p:spTree>
    <p:extLst>
      <p:ext uri="{BB962C8B-B14F-4D97-AF65-F5344CB8AC3E}">
        <p14:creationId xmlns:p14="http://schemas.microsoft.com/office/powerpoint/2010/main" val="2813462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communicates with the existing backend through APIs. These APIs retrieve outlet and menu information, synchronize cart data, submit orders, and check payment status. The backend continues to manage data storage, business logic, order processing, and payment verification.</a:t>
            </a:r>
            <a:endParaRPr lang="en-IN" dirty="0"/>
          </a:p>
        </p:txBody>
      </p:sp>
      <p:sp>
        <p:nvSpPr>
          <p:cNvPr id="4" name="Slide Number Placeholder 3"/>
          <p:cNvSpPr>
            <a:spLocks noGrp="1"/>
          </p:cNvSpPr>
          <p:nvPr>
            <p:ph type="sldNum" sz="quarter" idx="5"/>
          </p:nvPr>
        </p:nvSpPr>
        <p:spPr/>
        <p:txBody>
          <a:bodyPr/>
          <a:lstStyle/>
          <a:p>
            <a:fld id="{302D5A53-C290-4B1D-A0F6-7B09613EA955}" type="slidenum">
              <a:rPr lang="en-IN" smtClean="0"/>
              <a:t>3</a:t>
            </a:fld>
            <a:endParaRPr lang="en-IN"/>
          </a:p>
        </p:txBody>
      </p:sp>
    </p:spTree>
    <p:extLst>
      <p:ext uri="{BB962C8B-B14F-4D97-AF65-F5344CB8AC3E}">
        <p14:creationId xmlns:p14="http://schemas.microsoft.com/office/powerpoint/2010/main" val="2165175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QR-based outlet access to simplify the customer journey. When customers scan the Juice Robo QR code, the frontend extracts the relevant outlet or menu identifier from the URL and uses the existing APIs to load the corresponding menu.</a:t>
            </a:r>
            <a:endParaRPr lang="en-IN" dirty="0"/>
          </a:p>
        </p:txBody>
      </p:sp>
      <p:sp>
        <p:nvSpPr>
          <p:cNvPr id="4" name="Slide Number Placeholder 3"/>
          <p:cNvSpPr>
            <a:spLocks noGrp="1"/>
          </p:cNvSpPr>
          <p:nvPr>
            <p:ph type="sldNum" sz="quarter" idx="5"/>
          </p:nvPr>
        </p:nvSpPr>
        <p:spPr/>
        <p:txBody>
          <a:bodyPr/>
          <a:lstStyle/>
          <a:p>
            <a:fld id="{302D5A53-C290-4B1D-A0F6-7B09613EA955}" type="slidenum">
              <a:rPr lang="en-IN" smtClean="0"/>
              <a:t>4</a:t>
            </a:fld>
            <a:endParaRPr lang="en-IN"/>
          </a:p>
        </p:txBody>
      </p:sp>
    </p:spTree>
    <p:extLst>
      <p:ext uri="{BB962C8B-B14F-4D97-AF65-F5344CB8AC3E}">
        <p14:creationId xmlns:p14="http://schemas.microsoft.com/office/powerpoint/2010/main" val="1783251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redesigned the menu screen to provide a cleaner and more intuitive browsing experience. Product images, names, and prices are displayed clearly, allowing customers to browse products and add items to their cart. The product information continues to come from the existing backend APIs.</a:t>
            </a:r>
            <a:endParaRPr lang="en-IN" dirty="0"/>
          </a:p>
        </p:txBody>
      </p:sp>
      <p:sp>
        <p:nvSpPr>
          <p:cNvPr id="4" name="Slide Number Placeholder 3"/>
          <p:cNvSpPr>
            <a:spLocks noGrp="1"/>
          </p:cNvSpPr>
          <p:nvPr>
            <p:ph type="sldNum" sz="quarter" idx="5"/>
          </p:nvPr>
        </p:nvSpPr>
        <p:spPr/>
        <p:txBody>
          <a:bodyPr/>
          <a:lstStyle/>
          <a:p>
            <a:fld id="{302D5A53-C290-4B1D-A0F6-7B09613EA955}" type="slidenum">
              <a:rPr lang="en-IN" smtClean="0"/>
              <a:t>5</a:t>
            </a:fld>
            <a:endParaRPr lang="en-IN"/>
          </a:p>
        </p:txBody>
      </p:sp>
    </p:spTree>
    <p:extLst>
      <p:ext uri="{BB962C8B-B14F-4D97-AF65-F5344CB8AC3E}">
        <p14:creationId xmlns:p14="http://schemas.microsoft.com/office/powerpoint/2010/main" val="1559711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redesigned cart allows customers to review selected products and manage quantities. We improved the checkout screen to display order details, applicable GST, and the final payable amount clearly. Cart operations are synchronized with the backend to maintain consistency throughout the ordering process.</a:t>
            </a:r>
            <a:endParaRPr lang="en-IN" dirty="0"/>
          </a:p>
        </p:txBody>
      </p:sp>
      <p:sp>
        <p:nvSpPr>
          <p:cNvPr id="4" name="Slide Number Placeholder 3"/>
          <p:cNvSpPr>
            <a:spLocks noGrp="1"/>
          </p:cNvSpPr>
          <p:nvPr>
            <p:ph type="sldNum" sz="quarter" idx="5"/>
          </p:nvPr>
        </p:nvSpPr>
        <p:spPr/>
        <p:txBody>
          <a:bodyPr/>
          <a:lstStyle/>
          <a:p>
            <a:fld id="{302D5A53-C290-4B1D-A0F6-7B09613EA955}" type="slidenum">
              <a:rPr lang="en-IN" smtClean="0"/>
              <a:t>6</a:t>
            </a:fld>
            <a:endParaRPr lang="en-IN"/>
          </a:p>
        </p:txBody>
      </p:sp>
    </p:spTree>
    <p:extLst>
      <p:ext uri="{BB962C8B-B14F-4D97-AF65-F5344CB8AC3E}">
        <p14:creationId xmlns:p14="http://schemas.microsoft.com/office/powerpoint/2010/main" val="2160897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Profile Screen displays the customer’s registered name and email address using authenticated account data. These details cannot be edited after account creation. Customers can access the My Orders section to view their orders and sign out.</a:t>
            </a:r>
          </a:p>
          <a:p>
            <a:r>
              <a:rPr lang="en-US" dirty="0"/>
              <a:t>Need to do – Giving Menu access </a:t>
            </a:r>
            <a:r>
              <a:rPr lang="en-US"/>
              <a:t>without login.</a:t>
            </a:r>
            <a:endParaRPr lang="en-IN" dirty="0"/>
          </a:p>
        </p:txBody>
      </p:sp>
      <p:sp>
        <p:nvSpPr>
          <p:cNvPr id="4" name="Slide Number Placeholder 3"/>
          <p:cNvSpPr>
            <a:spLocks noGrp="1"/>
          </p:cNvSpPr>
          <p:nvPr>
            <p:ph type="sldNum" sz="quarter" idx="5"/>
          </p:nvPr>
        </p:nvSpPr>
        <p:spPr/>
        <p:txBody>
          <a:bodyPr/>
          <a:lstStyle/>
          <a:p>
            <a:fld id="{302D5A53-C290-4B1D-A0F6-7B09613EA955}" type="slidenum">
              <a:rPr lang="en-IN" smtClean="0"/>
              <a:t>7</a:t>
            </a:fld>
            <a:endParaRPr lang="en-IN"/>
          </a:p>
        </p:txBody>
      </p:sp>
    </p:spTree>
    <p:extLst>
      <p:ext uri="{BB962C8B-B14F-4D97-AF65-F5344CB8AC3E}">
        <p14:creationId xmlns:p14="http://schemas.microsoft.com/office/powerpoint/2010/main" val="1737418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improved the payment flow to support payments through the customer’s preferred UPI application. After payment is initiated, the frontend checks the order and payment status through the existing backend APIs. The payment success screen appears only after the backend confirms successful payment. Once the order is confirmed, the customer receives a unique four-digit pickup code to collect the order.</a:t>
            </a:r>
            <a:endParaRPr lang="en-IN" dirty="0"/>
          </a:p>
        </p:txBody>
      </p:sp>
      <p:sp>
        <p:nvSpPr>
          <p:cNvPr id="4" name="Slide Number Placeholder 3"/>
          <p:cNvSpPr>
            <a:spLocks noGrp="1"/>
          </p:cNvSpPr>
          <p:nvPr>
            <p:ph type="sldNum" sz="quarter" idx="5"/>
          </p:nvPr>
        </p:nvSpPr>
        <p:spPr/>
        <p:txBody>
          <a:bodyPr/>
          <a:lstStyle/>
          <a:p>
            <a:fld id="{302D5A53-C290-4B1D-A0F6-7B09613EA955}" type="slidenum">
              <a:rPr lang="en-IN" smtClean="0"/>
              <a:t>8</a:t>
            </a:fld>
            <a:endParaRPr lang="en-IN"/>
          </a:p>
        </p:txBody>
      </p:sp>
    </p:spTree>
    <p:extLst>
      <p:ext uri="{BB962C8B-B14F-4D97-AF65-F5344CB8AC3E}">
        <p14:creationId xmlns:p14="http://schemas.microsoft.com/office/powerpoint/2010/main" val="272403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Oval 1"/>
          <p:cNvSpPr/>
          <p:nvPr/>
        </p:nvSpPr>
        <p:spPr>
          <a:xfrm>
            <a:off x="8549640" y="731520"/>
            <a:ext cx="2560320" cy="2560320"/>
          </a:xfrm>
          <a:prstGeom prst="ellipse">
            <a:avLst/>
          </a:prstGeom>
          <a:solidFill>
            <a:srgbClr val="18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372600" y="2423160"/>
            <a:ext cx="1828800" cy="1828800"/>
          </a:xfrm>
          <a:prstGeom prst="ellipse">
            <a:avLst/>
          </a:prstGeom>
          <a:solidFill>
            <a:srgbClr val="37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818120" y="4069080"/>
            <a:ext cx="1645920" cy="1645920"/>
          </a:xfrm>
          <a:prstGeom prst="ellipse">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731520"/>
            <a:ext cx="6949440" cy="274320"/>
          </a:xfrm>
          <a:prstGeom prst="rect">
            <a:avLst/>
          </a:prstGeom>
          <a:noFill/>
        </p:spPr>
        <p:txBody>
          <a:bodyPr wrap="square" lIns="36576" tIns="36576" rIns="36576" bIns="36576" anchor="t">
            <a:spAutoFit/>
          </a:bodyPr>
          <a:lstStyle/>
          <a:p>
            <a:pPr algn="l">
              <a:spcAft>
                <a:spcPts val="500"/>
              </a:spcAft>
              <a:defRPr sz="1200" b="1">
                <a:solidFill>
                  <a:srgbClr val="37C7D8"/>
                </a:solidFill>
                <a:latin typeface="Aptos"/>
              </a:defRPr>
            </a:pPr>
            <a:r>
              <a:t>PROJECT PRESENTATION</a:t>
            </a:r>
          </a:p>
        </p:txBody>
      </p:sp>
      <p:sp>
        <p:nvSpPr>
          <p:cNvPr id="6" name="TextBox 5"/>
          <p:cNvSpPr txBox="1"/>
          <p:nvPr/>
        </p:nvSpPr>
        <p:spPr>
          <a:xfrm>
            <a:off x="731520" y="1325880"/>
            <a:ext cx="7772400" cy="1371600"/>
          </a:xfrm>
          <a:prstGeom prst="rect">
            <a:avLst/>
          </a:prstGeom>
          <a:noFill/>
        </p:spPr>
        <p:txBody>
          <a:bodyPr wrap="square" lIns="36576" tIns="36576" rIns="36576" bIns="36576" anchor="t">
            <a:spAutoFit/>
          </a:bodyPr>
          <a:lstStyle/>
          <a:p>
            <a:pPr algn="l">
              <a:spcAft>
                <a:spcPts val="500"/>
              </a:spcAft>
              <a:defRPr sz="3200" b="1">
                <a:solidFill>
                  <a:srgbClr val="F8FAFD"/>
                </a:solidFill>
                <a:latin typeface="Aptos"/>
              </a:defRPr>
            </a:pPr>
            <a:r>
              <a:t>JUICE ROBO</a:t>
            </a:r>
          </a:p>
          <a:p>
            <a:pPr algn="l">
              <a:spcAft>
                <a:spcPts val="500"/>
              </a:spcAft>
              <a:defRPr sz="3200" b="1">
                <a:solidFill>
                  <a:srgbClr val="F8FAFD"/>
                </a:solidFill>
                <a:latin typeface="Aptos"/>
              </a:defRPr>
            </a:pPr>
            <a:r>
              <a:t>FRONTEND REDESIGN</a:t>
            </a:r>
          </a:p>
        </p:txBody>
      </p:sp>
      <p:sp>
        <p:nvSpPr>
          <p:cNvPr id="7" name="TextBox 6"/>
          <p:cNvSpPr txBox="1"/>
          <p:nvPr/>
        </p:nvSpPr>
        <p:spPr>
          <a:xfrm>
            <a:off x="786384" y="3154680"/>
            <a:ext cx="6766560" cy="822960"/>
          </a:xfrm>
          <a:prstGeom prst="rect">
            <a:avLst/>
          </a:prstGeom>
          <a:noFill/>
        </p:spPr>
        <p:txBody>
          <a:bodyPr wrap="square" lIns="36576" tIns="36576" rIns="36576" bIns="36576" anchor="t">
            <a:spAutoFit/>
          </a:bodyPr>
          <a:lstStyle/>
          <a:p>
            <a:pPr algn="l">
              <a:spcAft>
                <a:spcPts val="500"/>
              </a:spcAft>
              <a:defRPr sz="1800" b="0">
                <a:solidFill>
                  <a:srgbClr val="E0EAF6"/>
                </a:solidFill>
                <a:latin typeface="Aptos"/>
              </a:defRPr>
            </a:pPr>
            <a:r>
              <a:rPr dirty="0"/>
              <a:t>Modernizing the customer experience while reusing the existing e-commerce backend</a:t>
            </a:r>
          </a:p>
        </p:txBody>
      </p:sp>
      <p:sp>
        <p:nvSpPr>
          <p:cNvPr id="8" name="TextBox 7"/>
          <p:cNvSpPr txBox="1"/>
          <p:nvPr/>
        </p:nvSpPr>
        <p:spPr>
          <a:xfrm>
            <a:off x="804672" y="5074920"/>
            <a:ext cx="6675120" cy="502920"/>
          </a:xfrm>
          <a:prstGeom prst="rect">
            <a:avLst/>
          </a:prstGeom>
          <a:noFill/>
        </p:spPr>
        <p:txBody>
          <a:bodyPr wrap="square" lIns="36576" tIns="36576" rIns="36576" bIns="36576" anchor="t">
            <a:spAutoFit/>
          </a:bodyPr>
          <a:lstStyle/>
          <a:p>
            <a:pPr algn="l">
              <a:spcAft>
                <a:spcPts val="500"/>
              </a:spcAft>
              <a:defRPr sz="1300" b="0">
                <a:solidFill>
                  <a:srgbClr val="9DB1CA"/>
                </a:solidFill>
                <a:latin typeface="Aptos"/>
              </a:defRPr>
            </a:pPr>
            <a:r>
              <a:t>UI improvements • Existing APIs • UPI flow • Pickup code</a:t>
            </a:r>
          </a:p>
        </p:txBody>
      </p:sp>
      <p:sp>
        <p:nvSpPr>
          <p:cNvPr id="9" name="TextBox 8"/>
          <p:cNvSpPr txBox="1"/>
          <p:nvPr/>
        </p:nvSpPr>
        <p:spPr>
          <a:xfrm>
            <a:off x="804672" y="6236208"/>
            <a:ext cx="6217920" cy="182880"/>
          </a:xfrm>
          <a:prstGeom prst="rect">
            <a:avLst/>
          </a:prstGeom>
          <a:noFill/>
        </p:spPr>
        <p:txBody>
          <a:bodyPr wrap="square" lIns="36576" tIns="36576" rIns="36576" bIns="36576" anchor="t">
            <a:spAutoFit/>
          </a:bodyPr>
          <a:lstStyle/>
          <a:p>
            <a:pPr algn="l">
              <a:spcAft>
                <a:spcPts val="500"/>
              </a:spcAft>
              <a:defRPr sz="900" b="1">
                <a:solidFill>
                  <a:srgbClr val="9DB1CA"/>
                </a:solidFill>
                <a:latin typeface="Aptos"/>
              </a:defRPr>
            </a:pPr>
            <a:r>
              <a:t>SHORT TECHNICAL PRESENTATION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02920"/>
          </a:xfrm>
          <a:prstGeom prst="rect">
            <a:avLst/>
          </a:prstGeom>
          <a:noFill/>
        </p:spPr>
        <p:txBody>
          <a:bodyPr wrap="square" lIns="36576" tIns="36576" rIns="36576" bIns="36576" anchor="t">
            <a:spAutoFit/>
          </a:bodyPr>
          <a:lstStyle/>
          <a:p>
            <a:pPr algn="l">
              <a:spcAft>
                <a:spcPts val="500"/>
              </a:spcAft>
              <a:defRPr sz="2600" b="1">
                <a:solidFill>
                  <a:srgbClr val="F8FAFD"/>
                </a:solidFill>
                <a:latin typeface="Aptos"/>
              </a:defRPr>
            </a:pPr>
            <a:r>
              <a:t>Project scope</a:t>
            </a:r>
          </a:p>
        </p:txBody>
      </p:sp>
      <p:sp>
        <p:nvSpPr>
          <p:cNvPr id="3" name="TextBox 2"/>
          <p:cNvSpPr txBox="1"/>
          <p:nvPr/>
        </p:nvSpPr>
        <p:spPr>
          <a:xfrm>
            <a:off x="621792" y="822960"/>
            <a:ext cx="10789920" cy="310896"/>
          </a:xfrm>
          <a:prstGeom prst="rect">
            <a:avLst/>
          </a:prstGeom>
          <a:noFill/>
        </p:spPr>
        <p:txBody>
          <a:bodyPr wrap="square" lIns="36576" tIns="36576" rIns="36576" bIns="36576" anchor="t">
            <a:spAutoFit/>
          </a:bodyPr>
          <a:lstStyle/>
          <a:p>
            <a:pPr algn="l">
              <a:spcAft>
                <a:spcPts val="500"/>
              </a:spcAft>
              <a:defRPr sz="1100" b="0">
                <a:solidFill>
                  <a:srgbClr val="9DB1CA"/>
                </a:solidFill>
                <a:latin typeface="Aptos"/>
              </a:defRPr>
            </a:pPr>
            <a:r>
              <a:t>Frontend redesign—not a replacement for the existing e-commerce service.</a:t>
            </a:r>
          </a:p>
        </p:txBody>
      </p:sp>
      <p:sp>
        <p:nvSpPr>
          <p:cNvPr id="4" name="Rectangle 3"/>
          <p:cNvSpPr/>
          <p:nvPr/>
        </p:nvSpPr>
        <p:spPr>
          <a:xfrm>
            <a:off x="621792" y="1243584"/>
            <a:ext cx="777240" cy="45720"/>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6510528"/>
            <a:ext cx="7772400" cy="164592"/>
          </a:xfrm>
          <a:prstGeom prst="rect">
            <a:avLst/>
          </a:prstGeom>
          <a:noFill/>
        </p:spPr>
        <p:txBody>
          <a:bodyPr wrap="square" lIns="36576" tIns="36576" rIns="36576" bIns="36576" anchor="t">
            <a:spAutoFit/>
          </a:bodyPr>
          <a:lstStyle/>
          <a:p>
            <a:pPr algn="l">
              <a:spcAft>
                <a:spcPts val="500"/>
              </a:spcAft>
              <a:defRPr sz="800" b="1">
                <a:solidFill>
                  <a:srgbClr val="9DB1CA"/>
                </a:solidFill>
                <a:latin typeface="Aptos"/>
              </a:defRPr>
            </a:pPr>
            <a:r>
              <a:t>JUICE ROBO • FRONTEND REDESIGN + EXISTING API INTEGRATION</a:t>
            </a:r>
          </a:p>
        </p:txBody>
      </p:sp>
      <p:sp>
        <p:nvSpPr>
          <p:cNvPr id="6" name="TextBox 5"/>
          <p:cNvSpPr txBox="1"/>
          <p:nvPr/>
        </p:nvSpPr>
        <p:spPr>
          <a:xfrm>
            <a:off x="11064240" y="6473952"/>
            <a:ext cx="411480" cy="182880"/>
          </a:xfrm>
          <a:prstGeom prst="rect">
            <a:avLst/>
          </a:prstGeom>
          <a:noFill/>
        </p:spPr>
        <p:txBody>
          <a:bodyPr wrap="square" lIns="36576" tIns="36576" rIns="36576" bIns="36576" anchor="t">
            <a:spAutoFit/>
          </a:bodyPr>
          <a:lstStyle/>
          <a:p>
            <a:pPr algn="r">
              <a:spcAft>
                <a:spcPts val="500"/>
              </a:spcAft>
              <a:defRPr sz="900" b="1">
                <a:solidFill>
                  <a:srgbClr val="9DB1CA"/>
                </a:solidFill>
                <a:latin typeface="Aptos"/>
              </a:defRPr>
            </a:pPr>
            <a:r>
              <a:t>02</a:t>
            </a:r>
          </a:p>
        </p:txBody>
      </p:sp>
      <p:sp>
        <p:nvSpPr>
          <p:cNvPr id="7" name="Rounded Rectangle 6"/>
          <p:cNvSpPr/>
          <p:nvPr/>
        </p:nvSpPr>
        <p:spPr>
          <a:xfrm>
            <a:off x="777240" y="1691640"/>
            <a:ext cx="3429000" cy="1828800"/>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691640"/>
            <a:ext cx="54864" cy="1828800"/>
          </a:xfrm>
          <a:prstGeom prst="rect">
            <a:avLst/>
          </a:prstGeom>
          <a:solidFill>
            <a:srgbClr val="37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828800"/>
            <a:ext cx="3108960" cy="274320"/>
          </a:xfrm>
          <a:prstGeom prst="rect">
            <a:avLst/>
          </a:prstGeom>
          <a:noFill/>
        </p:spPr>
        <p:txBody>
          <a:bodyPr wrap="square" lIns="36576" tIns="36576" rIns="36576" bIns="36576" anchor="t">
            <a:spAutoFit/>
          </a:bodyPr>
          <a:lstStyle/>
          <a:p>
            <a:pPr algn="l">
              <a:spcAft>
                <a:spcPts val="500"/>
              </a:spcAft>
              <a:defRPr sz="1500" b="1">
                <a:solidFill>
                  <a:srgbClr val="F8FAFD"/>
                </a:solidFill>
                <a:latin typeface="Aptos"/>
              </a:defRPr>
            </a:pPr>
            <a:r>
              <a:t>Redesigned frontend</a:t>
            </a:r>
          </a:p>
        </p:txBody>
      </p:sp>
      <p:sp>
        <p:nvSpPr>
          <p:cNvPr id="10" name="TextBox 9"/>
          <p:cNvSpPr txBox="1"/>
          <p:nvPr/>
        </p:nvSpPr>
        <p:spPr>
          <a:xfrm>
            <a:off x="960120" y="2194560"/>
            <a:ext cx="3081528" cy="1234440"/>
          </a:xfrm>
          <a:prstGeom prst="rect">
            <a:avLst/>
          </a:prstGeom>
          <a:noFill/>
        </p:spPr>
        <p:txBody>
          <a:bodyPr wrap="square" lIns="36576" tIns="36576" rIns="36576" bIns="36576" anchor="t">
            <a:spAutoFit/>
          </a:bodyPr>
          <a:lstStyle/>
          <a:p>
            <a:pPr algn="l">
              <a:spcAft>
                <a:spcPts val="500"/>
              </a:spcAft>
              <a:defRPr sz="1400" b="0">
                <a:solidFill>
                  <a:srgbClr val="E0EAF6"/>
                </a:solidFill>
                <a:latin typeface="Aptos"/>
              </a:defRPr>
            </a:pPr>
            <a:r>
              <a:t>Updated responsive screens, layout, product cards, navigation, and user flow.</a:t>
            </a:r>
          </a:p>
        </p:txBody>
      </p:sp>
      <p:sp>
        <p:nvSpPr>
          <p:cNvPr id="11" name="Rounded Rectangle 10"/>
          <p:cNvSpPr/>
          <p:nvPr/>
        </p:nvSpPr>
        <p:spPr>
          <a:xfrm>
            <a:off x="4389120" y="1691640"/>
            <a:ext cx="3429000" cy="1828800"/>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91640"/>
            <a:ext cx="54864" cy="1828800"/>
          </a:xfrm>
          <a:prstGeom prst="rect">
            <a:avLst/>
          </a:prstGeom>
          <a:solidFill>
            <a:srgbClr val="2CB0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828800"/>
            <a:ext cx="3108960" cy="274320"/>
          </a:xfrm>
          <a:prstGeom prst="rect">
            <a:avLst/>
          </a:prstGeom>
          <a:noFill/>
        </p:spPr>
        <p:txBody>
          <a:bodyPr wrap="square" lIns="36576" tIns="36576" rIns="36576" bIns="36576" anchor="t">
            <a:spAutoFit/>
          </a:bodyPr>
          <a:lstStyle/>
          <a:p>
            <a:pPr algn="l">
              <a:spcAft>
                <a:spcPts val="500"/>
              </a:spcAft>
              <a:defRPr sz="1500" b="1">
                <a:solidFill>
                  <a:srgbClr val="F8FAFD"/>
                </a:solidFill>
                <a:latin typeface="Aptos"/>
              </a:defRPr>
            </a:pPr>
            <a:r>
              <a:t>Existing backend</a:t>
            </a:r>
          </a:p>
        </p:txBody>
      </p:sp>
      <p:sp>
        <p:nvSpPr>
          <p:cNvPr id="14" name="TextBox 13"/>
          <p:cNvSpPr txBox="1"/>
          <p:nvPr/>
        </p:nvSpPr>
        <p:spPr>
          <a:xfrm>
            <a:off x="4572000" y="2194560"/>
            <a:ext cx="3081528" cy="1234440"/>
          </a:xfrm>
          <a:prstGeom prst="rect">
            <a:avLst/>
          </a:prstGeom>
          <a:noFill/>
        </p:spPr>
        <p:txBody>
          <a:bodyPr wrap="square" lIns="36576" tIns="36576" rIns="36576" bIns="36576" anchor="t">
            <a:spAutoFit/>
          </a:bodyPr>
          <a:lstStyle/>
          <a:p>
            <a:pPr algn="l">
              <a:spcAft>
                <a:spcPts val="500"/>
              </a:spcAft>
              <a:defRPr sz="1400" b="0">
                <a:solidFill>
                  <a:srgbClr val="E0EAF6"/>
                </a:solidFill>
                <a:latin typeface="Aptos"/>
              </a:defRPr>
            </a:pPr>
            <a:r>
              <a:t>Reuse current APIs, database, order processing, and payment behavior.</a:t>
            </a:r>
          </a:p>
        </p:txBody>
      </p:sp>
      <p:sp>
        <p:nvSpPr>
          <p:cNvPr id="15" name="Rounded Rectangle 14"/>
          <p:cNvSpPr/>
          <p:nvPr/>
        </p:nvSpPr>
        <p:spPr>
          <a:xfrm>
            <a:off x="8001000" y="1691640"/>
            <a:ext cx="3429000" cy="1828800"/>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01000" y="1691640"/>
            <a:ext cx="54864" cy="1828800"/>
          </a:xfrm>
          <a:prstGeom prst="rect">
            <a:avLst/>
          </a:prstGeom>
          <a:solidFill>
            <a:srgbClr val="F4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1828800"/>
            <a:ext cx="3108960" cy="274320"/>
          </a:xfrm>
          <a:prstGeom prst="rect">
            <a:avLst/>
          </a:prstGeom>
          <a:noFill/>
        </p:spPr>
        <p:txBody>
          <a:bodyPr wrap="square" lIns="36576" tIns="36576" rIns="36576" bIns="36576" anchor="t">
            <a:spAutoFit/>
          </a:bodyPr>
          <a:lstStyle/>
          <a:p>
            <a:pPr algn="l">
              <a:spcAft>
                <a:spcPts val="500"/>
              </a:spcAft>
              <a:defRPr sz="1500" b="1">
                <a:solidFill>
                  <a:srgbClr val="F8FAFD"/>
                </a:solidFill>
                <a:latin typeface="Aptos"/>
              </a:defRPr>
            </a:pPr>
            <a:r>
              <a:t>Integration goal</a:t>
            </a:r>
          </a:p>
        </p:txBody>
      </p:sp>
      <p:sp>
        <p:nvSpPr>
          <p:cNvPr id="18" name="TextBox 17"/>
          <p:cNvSpPr txBox="1"/>
          <p:nvPr/>
        </p:nvSpPr>
        <p:spPr>
          <a:xfrm>
            <a:off x="8183879" y="2194560"/>
            <a:ext cx="3081528" cy="1234440"/>
          </a:xfrm>
          <a:prstGeom prst="rect">
            <a:avLst/>
          </a:prstGeom>
          <a:noFill/>
        </p:spPr>
        <p:txBody>
          <a:bodyPr wrap="square" lIns="36576" tIns="36576" rIns="36576" bIns="36576" anchor="t">
            <a:spAutoFit/>
          </a:bodyPr>
          <a:lstStyle/>
          <a:p>
            <a:pPr algn="l">
              <a:spcAft>
                <a:spcPts val="500"/>
              </a:spcAft>
              <a:defRPr sz="1400" b="0">
                <a:solidFill>
                  <a:srgbClr val="E0EAF6"/>
                </a:solidFill>
                <a:latin typeface="Aptos"/>
              </a:defRPr>
            </a:pPr>
            <a:r>
              <a:t>Keep the current business logic and API contracts working with the new UI.</a:t>
            </a:r>
          </a:p>
        </p:txBody>
      </p:sp>
      <p:sp>
        <p:nvSpPr>
          <p:cNvPr id="19" name="TextBox 18"/>
          <p:cNvSpPr txBox="1"/>
          <p:nvPr/>
        </p:nvSpPr>
        <p:spPr>
          <a:xfrm>
            <a:off x="896112" y="4069080"/>
            <a:ext cx="10241280" cy="365760"/>
          </a:xfrm>
          <a:prstGeom prst="rect">
            <a:avLst/>
          </a:prstGeom>
          <a:noFill/>
        </p:spPr>
        <p:txBody>
          <a:bodyPr wrap="square" lIns="36576" tIns="36576" rIns="36576" bIns="36576" anchor="t">
            <a:spAutoFit/>
          </a:bodyPr>
          <a:lstStyle/>
          <a:p>
            <a:pPr algn="l">
              <a:spcAft>
                <a:spcPts val="500"/>
              </a:spcAft>
              <a:defRPr sz="1700" b="1">
                <a:solidFill>
                  <a:srgbClr val="37C7D8"/>
                </a:solidFill>
                <a:latin typeface="Aptos"/>
              </a:defRPr>
            </a:pPr>
            <a:r>
              <a:t>Guiding principle</a:t>
            </a:r>
          </a:p>
        </p:txBody>
      </p:sp>
      <p:sp>
        <p:nvSpPr>
          <p:cNvPr id="20" name="TextBox 19"/>
          <p:cNvSpPr txBox="1"/>
          <p:nvPr/>
        </p:nvSpPr>
        <p:spPr>
          <a:xfrm>
            <a:off x="896112" y="4526280"/>
            <a:ext cx="10332720" cy="731520"/>
          </a:xfrm>
          <a:prstGeom prst="rect">
            <a:avLst/>
          </a:prstGeom>
          <a:noFill/>
        </p:spPr>
        <p:txBody>
          <a:bodyPr wrap="square" lIns="36576" tIns="36576" rIns="36576" bIns="36576" anchor="t">
            <a:spAutoFit/>
          </a:bodyPr>
          <a:lstStyle/>
          <a:p>
            <a:pPr algn="l">
              <a:spcAft>
                <a:spcPts val="500"/>
              </a:spcAft>
              <a:defRPr sz="1700" b="0">
                <a:solidFill>
                  <a:srgbClr val="F8FAFD"/>
                </a:solidFill>
                <a:latin typeface="Aptos"/>
              </a:defRPr>
            </a:pPr>
            <a:r>
              <a:t>Change the presentation layer. Do not duplicate backend functionality or introduce new authentication/payment flows without a verified need.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02920"/>
          </a:xfrm>
          <a:prstGeom prst="rect">
            <a:avLst/>
          </a:prstGeom>
          <a:noFill/>
        </p:spPr>
        <p:txBody>
          <a:bodyPr wrap="square" lIns="36576" tIns="36576" rIns="36576" bIns="36576" anchor="t">
            <a:spAutoFit/>
          </a:bodyPr>
          <a:lstStyle/>
          <a:p>
            <a:pPr algn="l">
              <a:spcAft>
                <a:spcPts val="500"/>
              </a:spcAft>
              <a:defRPr sz="2600" b="1">
                <a:solidFill>
                  <a:srgbClr val="F8FAFD"/>
                </a:solidFill>
                <a:latin typeface="Aptos"/>
              </a:defRPr>
            </a:pPr>
            <a:r>
              <a:t>How the redesigned UI works</a:t>
            </a:r>
          </a:p>
        </p:txBody>
      </p:sp>
      <p:sp>
        <p:nvSpPr>
          <p:cNvPr id="3" name="TextBox 2"/>
          <p:cNvSpPr txBox="1"/>
          <p:nvPr/>
        </p:nvSpPr>
        <p:spPr>
          <a:xfrm>
            <a:off x="621792" y="822960"/>
            <a:ext cx="10789920" cy="310896"/>
          </a:xfrm>
          <a:prstGeom prst="rect">
            <a:avLst/>
          </a:prstGeom>
          <a:noFill/>
        </p:spPr>
        <p:txBody>
          <a:bodyPr wrap="square" lIns="36576" tIns="36576" rIns="36576" bIns="36576" anchor="t">
            <a:spAutoFit/>
          </a:bodyPr>
          <a:lstStyle/>
          <a:p>
            <a:pPr algn="l">
              <a:spcAft>
                <a:spcPts val="500"/>
              </a:spcAft>
              <a:defRPr sz="1100" b="0">
                <a:solidFill>
                  <a:srgbClr val="9DB1CA"/>
                </a:solidFill>
                <a:latin typeface="Aptos"/>
              </a:defRPr>
            </a:pPr>
            <a:r>
              <a:t>The frontend consumes existing APIs and displays their responses.</a:t>
            </a:r>
          </a:p>
        </p:txBody>
      </p:sp>
      <p:sp>
        <p:nvSpPr>
          <p:cNvPr id="4" name="Rectangle 3"/>
          <p:cNvSpPr/>
          <p:nvPr/>
        </p:nvSpPr>
        <p:spPr>
          <a:xfrm>
            <a:off x="621792" y="1243584"/>
            <a:ext cx="777240" cy="45720"/>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6510528"/>
            <a:ext cx="7772400" cy="164592"/>
          </a:xfrm>
          <a:prstGeom prst="rect">
            <a:avLst/>
          </a:prstGeom>
          <a:noFill/>
        </p:spPr>
        <p:txBody>
          <a:bodyPr wrap="square" lIns="36576" tIns="36576" rIns="36576" bIns="36576" anchor="t">
            <a:spAutoFit/>
          </a:bodyPr>
          <a:lstStyle/>
          <a:p>
            <a:pPr algn="l">
              <a:spcAft>
                <a:spcPts val="500"/>
              </a:spcAft>
              <a:defRPr sz="800" b="1">
                <a:solidFill>
                  <a:srgbClr val="9DB1CA"/>
                </a:solidFill>
                <a:latin typeface="Aptos"/>
              </a:defRPr>
            </a:pPr>
            <a:r>
              <a:t>JUICE ROBO • FRONTEND REDESIGN + EXISTING API INTEGRATION</a:t>
            </a:r>
          </a:p>
        </p:txBody>
      </p:sp>
      <p:sp>
        <p:nvSpPr>
          <p:cNvPr id="6" name="TextBox 5"/>
          <p:cNvSpPr txBox="1"/>
          <p:nvPr/>
        </p:nvSpPr>
        <p:spPr>
          <a:xfrm>
            <a:off x="11064240" y="6473952"/>
            <a:ext cx="411480" cy="182880"/>
          </a:xfrm>
          <a:prstGeom prst="rect">
            <a:avLst/>
          </a:prstGeom>
          <a:noFill/>
        </p:spPr>
        <p:txBody>
          <a:bodyPr wrap="square" lIns="36576" tIns="36576" rIns="36576" bIns="36576" anchor="t">
            <a:spAutoFit/>
          </a:bodyPr>
          <a:lstStyle/>
          <a:p>
            <a:pPr algn="r">
              <a:spcAft>
                <a:spcPts val="500"/>
              </a:spcAft>
              <a:defRPr sz="900" b="1">
                <a:solidFill>
                  <a:srgbClr val="9DB1CA"/>
                </a:solidFill>
                <a:latin typeface="Aptos"/>
              </a:defRPr>
            </a:pPr>
            <a:r>
              <a:t>03</a:t>
            </a:r>
          </a:p>
        </p:txBody>
      </p:sp>
      <p:sp>
        <p:nvSpPr>
          <p:cNvPr id="7" name="Rounded Rectangle 6"/>
          <p:cNvSpPr/>
          <p:nvPr/>
        </p:nvSpPr>
        <p:spPr>
          <a:xfrm>
            <a:off x="731520" y="1920240"/>
            <a:ext cx="2423160" cy="1051560"/>
          </a:xfrm>
          <a:prstGeom prst="roundRect">
            <a:avLst/>
          </a:prstGeom>
          <a:solidFill>
            <a:srgbClr val="37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2029968"/>
            <a:ext cx="2276856" cy="274320"/>
          </a:xfrm>
          <a:prstGeom prst="rect">
            <a:avLst/>
          </a:prstGeom>
          <a:noFill/>
        </p:spPr>
        <p:txBody>
          <a:bodyPr wrap="square" lIns="36576" tIns="36576" rIns="36576" bIns="36576" anchor="t">
            <a:spAutoFit/>
          </a:bodyPr>
          <a:lstStyle/>
          <a:p>
            <a:pPr algn="ctr">
              <a:spcAft>
                <a:spcPts val="500"/>
              </a:spcAft>
              <a:defRPr sz="1400" b="1">
                <a:solidFill>
                  <a:srgbClr val="F8FAFD"/>
                </a:solidFill>
                <a:latin typeface="Aptos"/>
              </a:defRPr>
            </a:pPr>
            <a:r>
              <a:t>Redesigned UI</a:t>
            </a:r>
          </a:p>
        </p:txBody>
      </p:sp>
      <p:sp>
        <p:nvSpPr>
          <p:cNvPr id="9" name="TextBox 8"/>
          <p:cNvSpPr txBox="1"/>
          <p:nvPr/>
        </p:nvSpPr>
        <p:spPr>
          <a:xfrm>
            <a:off x="804672" y="2359152"/>
            <a:ext cx="2276856" cy="576071"/>
          </a:xfrm>
          <a:prstGeom prst="rect">
            <a:avLst/>
          </a:prstGeom>
          <a:noFill/>
        </p:spPr>
        <p:txBody>
          <a:bodyPr wrap="square" lIns="36576" tIns="36576" rIns="36576" bIns="36576" anchor="t">
            <a:spAutoFit/>
          </a:bodyPr>
          <a:lstStyle/>
          <a:p>
            <a:pPr algn="ctr">
              <a:spcAft>
                <a:spcPts val="500"/>
              </a:spcAft>
              <a:defRPr sz="1000" b="0">
                <a:solidFill>
                  <a:srgbClr val="F8FAFD"/>
                </a:solidFill>
                <a:latin typeface="Aptos"/>
              </a:defRPr>
            </a:pPr>
            <a:r>
              <a:t>Location • Menu • Cart • Profile</a:t>
            </a:r>
          </a:p>
        </p:txBody>
      </p:sp>
      <p:sp>
        <p:nvSpPr>
          <p:cNvPr id="10" name="Rounded Rectangle 9"/>
          <p:cNvSpPr/>
          <p:nvPr/>
        </p:nvSpPr>
        <p:spPr>
          <a:xfrm>
            <a:off x="4663440" y="1920240"/>
            <a:ext cx="2423160" cy="1051560"/>
          </a:xfrm>
          <a:prstGeom prst="round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36592" y="2029968"/>
            <a:ext cx="2276856" cy="274320"/>
          </a:xfrm>
          <a:prstGeom prst="rect">
            <a:avLst/>
          </a:prstGeom>
          <a:noFill/>
        </p:spPr>
        <p:txBody>
          <a:bodyPr wrap="square" lIns="36576" tIns="36576" rIns="36576" bIns="36576" anchor="t">
            <a:spAutoFit/>
          </a:bodyPr>
          <a:lstStyle/>
          <a:p>
            <a:pPr algn="ctr">
              <a:spcAft>
                <a:spcPts val="500"/>
              </a:spcAft>
              <a:defRPr sz="1400" b="1">
                <a:solidFill>
                  <a:srgbClr val="F8FAFD"/>
                </a:solidFill>
                <a:latin typeface="Aptos"/>
              </a:defRPr>
            </a:pPr>
            <a:r>
              <a:t>Existing APIs</a:t>
            </a:r>
          </a:p>
        </p:txBody>
      </p:sp>
      <p:sp>
        <p:nvSpPr>
          <p:cNvPr id="12" name="TextBox 11"/>
          <p:cNvSpPr txBox="1"/>
          <p:nvPr/>
        </p:nvSpPr>
        <p:spPr>
          <a:xfrm>
            <a:off x="4736592" y="2359152"/>
            <a:ext cx="2276856" cy="576071"/>
          </a:xfrm>
          <a:prstGeom prst="rect">
            <a:avLst/>
          </a:prstGeom>
          <a:noFill/>
        </p:spPr>
        <p:txBody>
          <a:bodyPr wrap="square" lIns="36576" tIns="36576" rIns="36576" bIns="36576" anchor="t">
            <a:spAutoFit/>
          </a:bodyPr>
          <a:lstStyle/>
          <a:p>
            <a:pPr algn="ctr">
              <a:spcAft>
                <a:spcPts val="500"/>
              </a:spcAft>
              <a:defRPr sz="1000" b="0">
                <a:solidFill>
                  <a:srgbClr val="F8FAFD"/>
                </a:solidFill>
                <a:latin typeface="Aptos"/>
              </a:defRPr>
            </a:pPr>
            <a:r>
              <a:t>Requests and responses</a:t>
            </a:r>
          </a:p>
        </p:txBody>
      </p:sp>
      <p:sp>
        <p:nvSpPr>
          <p:cNvPr id="13" name="Rounded Rectangle 12"/>
          <p:cNvSpPr/>
          <p:nvPr/>
        </p:nvSpPr>
        <p:spPr>
          <a:xfrm>
            <a:off x="8595360" y="1920240"/>
            <a:ext cx="2606040" cy="1051560"/>
          </a:xfrm>
          <a:prstGeom prst="roundRect">
            <a:avLst/>
          </a:prstGeom>
          <a:solidFill>
            <a:srgbClr val="2CB0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68512" y="2029968"/>
            <a:ext cx="2459736" cy="274320"/>
          </a:xfrm>
          <a:prstGeom prst="rect">
            <a:avLst/>
          </a:prstGeom>
          <a:noFill/>
        </p:spPr>
        <p:txBody>
          <a:bodyPr wrap="square" lIns="36576" tIns="36576" rIns="36576" bIns="36576" anchor="t">
            <a:spAutoFit/>
          </a:bodyPr>
          <a:lstStyle/>
          <a:p>
            <a:pPr algn="ctr">
              <a:spcAft>
                <a:spcPts val="500"/>
              </a:spcAft>
              <a:defRPr sz="1400" b="1">
                <a:solidFill>
                  <a:srgbClr val="F8FAFD"/>
                </a:solidFill>
                <a:latin typeface="Aptos"/>
              </a:defRPr>
            </a:pPr>
            <a:r>
              <a:t>Existing backend</a:t>
            </a:r>
          </a:p>
        </p:txBody>
      </p:sp>
      <p:sp>
        <p:nvSpPr>
          <p:cNvPr id="15" name="TextBox 14"/>
          <p:cNvSpPr txBox="1"/>
          <p:nvPr/>
        </p:nvSpPr>
        <p:spPr>
          <a:xfrm>
            <a:off x="8668512" y="2359152"/>
            <a:ext cx="2459736" cy="576071"/>
          </a:xfrm>
          <a:prstGeom prst="rect">
            <a:avLst/>
          </a:prstGeom>
          <a:noFill/>
        </p:spPr>
        <p:txBody>
          <a:bodyPr wrap="square" lIns="36576" tIns="36576" rIns="36576" bIns="36576" anchor="t">
            <a:spAutoFit/>
          </a:bodyPr>
          <a:lstStyle/>
          <a:p>
            <a:pPr algn="ctr">
              <a:spcAft>
                <a:spcPts val="500"/>
              </a:spcAft>
              <a:defRPr sz="1000" b="0">
                <a:solidFill>
                  <a:srgbClr val="F8FAFD"/>
                </a:solidFill>
                <a:latin typeface="Aptos"/>
              </a:defRPr>
            </a:pPr>
            <a:r>
              <a:t>Database • Orders • Payment status</a:t>
            </a:r>
          </a:p>
        </p:txBody>
      </p:sp>
      <p:cxnSp>
        <p:nvCxnSpPr>
          <p:cNvPr id="16" name="Connector 15"/>
          <p:cNvCxnSpPr/>
          <p:nvPr/>
        </p:nvCxnSpPr>
        <p:spPr>
          <a:xfrm>
            <a:off x="3154680" y="2304288"/>
            <a:ext cx="1508760" cy="0"/>
          </a:xfrm>
          <a:prstGeom prst="line">
            <a:avLst/>
          </a:prstGeom>
          <a:ln w="25400">
            <a:solidFill>
              <a:srgbClr val="37C7D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086600" y="2304288"/>
            <a:ext cx="1508760" cy="0"/>
          </a:xfrm>
          <a:prstGeom prst="line">
            <a:avLst/>
          </a:prstGeom>
          <a:ln w="25400">
            <a:solidFill>
              <a:srgbClr val="37C7D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7086600" y="2743200"/>
            <a:ext cx="1508760" cy="0"/>
          </a:xfrm>
          <a:prstGeom prst="line">
            <a:avLst/>
          </a:prstGeom>
          <a:ln w="25400">
            <a:solidFill>
              <a:srgbClr val="F4B14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154680" y="2743200"/>
            <a:ext cx="1508760" cy="0"/>
          </a:xfrm>
          <a:prstGeom prst="line">
            <a:avLst/>
          </a:prstGeom>
          <a:ln w="25400">
            <a:solidFill>
              <a:srgbClr val="F4B142"/>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14400" y="3840480"/>
            <a:ext cx="4754880" cy="1280160"/>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4400" y="3840480"/>
            <a:ext cx="54864" cy="1280160"/>
          </a:xfrm>
          <a:prstGeom prst="rect">
            <a:avLst/>
          </a:prstGeom>
          <a:solidFill>
            <a:srgbClr val="37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3977640"/>
            <a:ext cx="4434840" cy="274320"/>
          </a:xfrm>
          <a:prstGeom prst="rect">
            <a:avLst/>
          </a:prstGeom>
          <a:noFill/>
        </p:spPr>
        <p:txBody>
          <a:bodyPr wrap="square" lIns="36576" tIns="36576" rIns="36576" bIns="36576" anchor="t">
            <a:spAutoFit/>
          </a:bodyPr>
          <a:lstStyle/>
          <a:p>
            <a:pPr algn="l">
              <a:spcAft>
                <a:spcPts val="500"/>
              </a:spcAft>
              <a:defRPr sz="1500" b="1">
                <a:solidFill>
                  <a:srgbClr val="F8FAFD"/>
                </a:solidFill>
                <a:latin typeface="Aptos"/>
              </a:defRPr>
            </a:pPr>
            <a:r>
              <a:t>Location and menu APIs</a:t>
            </a:r>
          </a:p>
        </p:txBody>
      </p:sp>
      <p:sp>
        <p:nvSpPr>
          <p:cNvPr id="23" name="TextBox 22"/>
          <p:cNvSpPr txBox="1"/>
          <p:nvPr/>
        </p:nvSpPr>
        <p:spPr>
          <a:xfrm>
            <a:off x="1097280" y="4343400"/>
            <a:ext cx="4407408" cy="685799"/>
          </a:xfrm>
          <a:prstGeom prst="rect">
            <a:avLst/>
          </a:prstGeom>
          <a:noFill/>
        </p:spPr>
        <p:txBody>
          <a:bodyPr wrap="square" lIns="36576" tIns="36576" rIns="36576" bIns="36576" anchor="t">
            <a:spAutoFit/>
          </a:bodyPr>
          <a:lstStyle/>
          <a:p>
            <a:pPr algn="l">
              <a:spcAft>
                <a:spcPts val="500"/>
              </a:spcAft>
              <a:defRPr sz="1300" b="0">
                <a:solidFill>
                  <a:srgbClr val="E0EAF6"/>
                </a:solidFill>
                <a:latin typeface="Aptos"/>
              </a:defRPr>
            </a:pPr>
            <a:r>
              <a:t>Outlet ID selects the correct menu; products and prices come from the API.</a:t>
            </a:r>
          </a:p>
        </p:txBody>
      </p:sp>
      <p:sp>
        <p:nvSpPr>
          <p:cNvPr id="24" name="Rounded Rectangle 23"/>
          <p:cNvSpPr/>
          <p:nvPr/>
        </p:nvSpPr>
        <p:spPr>
          <a:xfrm>
            <a:off x="6400800" y="3840480"/>
            <a:ext cx="4754880" cy="1280160"/>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0" y="3840480"/>
            <a:ext cx="54864" cy="1280160"/>
          </a:xfrm>
          <a:prstGeom prst="rect">
            <a:avLst/>
          </a:prstGeom>
          <a:solidFill>
            <a:srgbClr val="2CB0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0" y="3977640"/>
            <a:ext cx="4434840" cy="274320"/>
          </a:xfrm>
          <a:prstGeom prst="rect">
            <a:avLst/>
          </a:prstGeom>
          <a:noFill/>
        </p:spPr>
        <p:txBody>
          <a:bodyPr wrap="square" lIns="36576" tIns="36576" rIns="36576" bIns="36576" anchor="t">
            <a:spAutoFit/>
          </a:bodyPr>
          <a:lstStyle/>
          <a:p>
            <a:pPr algn="l">
              <a:spcAft>
                <a:spcPts val="500"/>
              </a:spcAft>
              <a:defRPr sz="1500" b="1">
                <a:solidFill>
                  <a:srgbClr val="F8FAFD"/>
                </a:solidFill>
                <a:latin typeface="Aptos"/>
              </a:defRPr>
            </a:pPr>
            <a:r>
              <a:t>Cart and order APIs</a:t>
            </a:r>
          </a:p>
        </p:txBody>
      </p:sp>
      <p:sp>
        <p:nvSpPr>
          <p:cNvPr id="27" name="TextBox 26"/>
          <p:cNvSpPr txBox="1"/>
          <p:nvPr/>
        </p:nvSpPr>
        <p:spPr>
          <a:xfrm>
            <a:off x="6583680" y="4343400"/>
            <a:ext cx="4407408" cy="685799"/>
          </a:xfrm>
          <a:prstGeom prst="rect">
            <a:avLst/>
          </a:prstGeom>
          <a:noFill/>
        </p:spPr>
        <p:txBody>
          <a:bodyPr wrap="square" lIns="36576" tIns="36576" rIns="36576" bIns="36576" anchor="t">
            <a:spAutoFit/>
          </a:bodyPr>
          <a:lstStyle/>
          <a:p>
            <a:pPr algn="l">
              <a:spcAft>
                <a:spcPts val="500"/>
              </a:spcAft>
              <a:defRPr sz="1300" b="0">
                <a:solidFill>
                  <a:srgbClr val="E0EAF6"/>
                </a:solidFill>
                <a:latin typeface="Aptos"/>
              </a:defRPr>
            </a:pPr>
            <a:r>
              <a:t>Keep add-to-cart, order submission, and status verification on existing service flows.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02920"/>
          </a:xfrm>
          <a:prstGeom prst="rect">
            <a:avLst/>
          </a:prstGeom>
          <a:noFill/>
        </p:spPr>
        <p:txBody>
          <a:bodyPr wrap="square" lIns="36576" tIns="36576" rIns="36576" bIns="36576" anchor="t">
            <a:spAutoFit/>
          </a:bodyPr>
          <a:lstStyle/>
          <a:p>
            <a:pPr algn="l">
              <a:spcAft>
                <a:spcPts val="500"/>
              </a:spcAft>
              <a:defRPr sz="2600" b="1">
                <a:solidFill>
                  <a:srgbClr val="F8FAFD"/>
                </a:solidFill>
                <a:latin typeface="Aptos"/>
              </a:defRPr>
            </a:pPr>
            <a:r>
              <a:t>Location access: previous vs redesigned</a:t>
            </a:r>
          </a:p>
        </p:txBody>
      </p:sp>
      <p:sp>
        <p:nvSpPr>
          <p:cNvPr id="3" name="TextBox 2"/>
          <p:cNvSpPr txBox="1"/>
          <p:nvPr/>
        </p:nvSpPr>
        <p:spPr>
          <a:xfrm>
            <a:off x="621792" y="822960"/>
            <a:ext cx="10789920" cy="310896"/>
          </a:xfrm>
          <a:prstGeom prst="rect">
            <a:avLst/>
          </a:prstGeom>
          <a:noFill/>
        </p:spPr>
        <p:txBody>
          <a:bodyPr wrap="square" lIns="36576" tIns="36576" rIns="36576" bIns="36576" anchor="t">
            <a:spAutoFit/>
          </a:bodyPr>
          <a:lstStyle/>
          <a:p>
            <a:pPr algn="l">
              <a:spcAft>
                <a:spcPts val="500"/>
              </a:spcAft>
              <a:defRPr sz="1100" b="0">
                <a:solidFill>
                  <a:srgbClr val="9DB1CA"/>
                </a:solidFill>
                <a:latin typeface="Aptos"/>
              </a:defRPr>
            </a:pPr>
            <a:r>
              <a:t>Move from a manual location choice toward QR-based outlet access.</a:t>
            </a:r>
          </a:p>
        </p:txBody>
      </p:sp>
      <p:sp>
        <p:nvSpPr>
          <p:cNvPr id="4" name="Rectangle 3"/>
          <p:cNvSpPr/>
          <p:nvPr/>
        </p:nvSpPr>
        <p:spPr>
          <a:xfrm>
            <a:off x="621792" y="1243584"/>
            <a:ext cx="777240" cy="45720"/>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6510528"/>
            <a:ext cx="7772400" cy="164592"/>
          </a:xfrm>
          <a:prstGeom prst="rect">
            <a:avLst/>
          </a:prstGeom>
          <a:noFill/>
        </p:spPr>
        <p:txBody>
          <a:bodyPr wrap="square" lIns="36576" tIns="36576" rIns="36576" bIns="36576" anchor="t">
            <a:spAutoFit/>
          </a:bodyPr>
          <a:lstStyle/>
          <a:p>
            <a:pPr algn="l">
              <a:spcAft>
                <a:spcPts val="500"/>
              </a:spcAft>
              <a:defRPr sz="800" b="1">
                <a:solidFill>
                  <a:srgbClr val="9DB1CA"/>
                </a:solidFill>
                <a:latin typeface="Aptos"/>
              </a:defRPr>
            </a:pPr>
            <a:r>
              <a:t>JUICE ROBO • FRONTEND REDESIGN + EXISTING API INTEGRATION</a:t>
            </a:r>
          </a:p>
        </p:txBody>
      </p:sp>
      <p:sp>
        <p:nvSpPr>
          <p:cNvPr id="6" name="TextBox 5"/>
          <p:cNvSpPr txBox="1"/>
          <p:nvPr/>
        </p:nvSpPr>
        <p:spPr>
          <a:xfrm>
            <a:off x="11064240" y="6473952"/>
            <a:ext cx="411480" cy="182880"/>
          </a:xfrm>
          <a:prstGeom prst="rect">
            <a:avLst/>
          </a:prstGeom>
          <a:noFill/>
        </p:spPr>
        <p:txBody>
          <a:bodyPr wrap="square" lIns="36576" tIns="36576" rIns="36576" bIns="36576" anchor="t">
            <a:spAutoFit/>
          </a:bodyPr>
          <a:lstStyle/>
          <a:p>
            <a:pPr algn="r">
              <a:spcAft>
                <a:spcPts val="500"/>
              </a:spcAft>
              <a:defRPr sz="900" b="1">
                <a:solidFill>
                  <a:srgbClr val="9DB1CA"/>
                </a:solidFill>
                <a:latin typeface="Aptos"/>
              </a:defRPr>
            </a:pPr>
            <a:r>
              <a:t>05</a:t>
            </a:r>
          </a:p>
        </p:txBody>
      </p:sp>
      <p:sp>
        <p:nvSpPr>
          <p:cNvPr id="7" name="TextBox 6"/>
          <p:cNvSpPr txBox="1"/>
          <p:nvPr/>
        </p:nvSpPr>
        <p:spPr>
          <a:xfrm>
            <a:off x="1051560" y="1444752"/>
            <a:ext cx="3931920" cy="274320"/>
          </a:xfrm>
          <a:prstGeom prst="rect">
            <a:avLst/>
          </a:prstGeom>
          <a:noFill/>
        </p:spPr>
        <p:txBody>
          <a:bodyPr wrap="square" lIns="36576" tIns="36576" rIns="36576" bIns="36576" anchor="t">
            <a:spAutoFit/>
          </a:bodyPr>
          <a:lstStyle/>
          <a:p>
            <a:pPr algn="ctr">
              <a:spcAft>
                <a:spcPts val="500"/>
              </a:spcAft>
              <a:defRPr sz="1400" b="1">
                <a:solidFill>
                  <a:srgbClr val="F4B142"/>
                </a:solidFill>
                <a:latin typeface="Aptos"/>
              </a:defRPr>
            </a:pPr>
            <a:r>
              <a:t>PREVIOUS UI</a:t>
            </a:r>
          </a:p>
        </p:txBody>
      </p:sp>
      <p:pic>
        <p:nvPicPr>
          <p:cNvPr id="8" name="Picture 7" descr="old_location.png"/>
          <p:cNvPicPr>
            <a:picLocks noChangeAspect="1"/>
          </p:cNvPicPr>
          <p:nvPr/>
        </p:nvPicPr>
        <p:blipFill>
          <a:blip r:embed="rId3"/>
          <a:stretch>
            <a:fillRect/>
          </a:stretch>
        </p:blipFill>
        <p:spPr>
          <a:xfrm>
            <a:off x="1965959" y="1783080"/>
            <a:ext cx="2103120" cy="3611880"/>
          </a:xfrm>
          <a:prstGeom prst="rect">
            <a:avLst/>
          </a:prstGeom>
        </p:spPr>
      </p:pic>
      <p:sp>
        <p:nvSpPr>
          <p:cNvPr id="9" name="Rounded Rectangle 8"/>
          <p:cNvSpPr/>
          <p:nvPr/>
        </p:nvSpPr>
        <p:spPr>
          <a:xfrm>
            <a:off x="1965959" y="1783080"/>
            <a:ext cx="2103120" cy="3611880"/>
          </a:xfrm>
          <a:prstGeom prst="roundRect">
            <a:avLst/>
          </a:prstGeom>
          <a:noFill/>
          <a:ln w="15240">
            <a:solidFill>
              <a:srgbClr val="415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444752"/>
            <a:ext cx="3931920" cy="274320"/>
          </a:xfrm>
          <a:prstGeom prst="rect">
            <a:avLst/>
          </a:prstGeom>
          <a:noFill/>
        </p:spPr>
        <p:txBody>
          <a:bodyPr wrap="square" lIns="36576" tIns="36576" rIns="36576" bIns="36576" anchor="t">
            <a:spAutoFit/>
          </a:bodyPr>
          <a:lstStyle/>
          <a:p>
            <a:pPr algn="ctr">
              <a:spcAft>
                <a:spcPts val="500"/>
              </a:spcAft>
              <a:defRPr sz="1400" b="1">
                <a:solidFill>
                  <a:srgbClr val="2CB07D"/>
                </a:solidFill>
                <a:latin typeface="Aptos"/>
              </a:defRPr>
            </a:pPr>
            <a:r>
              <a:t>REDESIGNED UI</a:t>
            </a:r>
          </a:p>
        </p:txBody>
      </p:sp>
      <p:pic>
        <p:nvPicPr>
          <p:cNvPr id="11" name="Picture 10" descr="new_location.png"/>
          <p:cNvPicPr>
            <a:picLocks noChangeAspect="1"/>
          </p:cNvPicPr>
          <p:nvPr/>
        </p:nvPicPr>
        <p:blipFill>
          <a:blip r:embed="rId4"/>
          <a:stretch>
            <a:fillRect/>
          </a:stretch>
        </p:blipFill>
        <p:spPr>
          <a:xfrm>
            <a:off x="7360919" y="1783080"/>
            <a:ext cx="2103120" cy="3611880"/>
          </a:xfrm>
          <a:prstGeom prst="rect">
            <a:avLst/>
          </a:prstGeom>
        </p:spPr>
      </p:pic>
      <p:sp>
        <p:nvSpPr>
          <p:cNvPr id="12" name="Rounded Rectangle 11"/>
          <p:cNvSpPr/>
          <p:nvPr/>
        </p:nvSpPr>
        <p:spPr>
          <a:xfrm>
            <a:off x="7360919" y="1783080"/>
            <a:ext cx="2103120" cy="3611880"/>
          </a:xfrm>
          <a:prstGeom prst="roundRect">
            <a:avLst/>
          </a:prstGeom>
          <a:noFill/>
          <a:ln w="15240">
            <a:solidFill>
              <a:srgbClr val="415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741932" y="5577840"/>
            <a:ext cx="8549640" cy="694944"/>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828800" y="5559552"/>
            <a:ext cx="54864" cy="694944"/>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29968" y="5722358"/>
            <a:ext cx="8138160" cy="184666"/>
          </a:xfrm>
          <a:prstGeom prst="rect">
            <a:avLst/>
          </a:prstGeom>
          <a:noFill/>
        </p:spPr>
        <p:txBody>
          <a:bodyPr wrap="square" lIns="0" tIns="0" rIns="0" bIns="0" anchor="ctr">
            <a:spAutoFit/>
          </a:bodyPr>
          <a:lstStyle/>
          <a:p>
            <a:pPr algn="l">
              <a:spcAft>
                <a:spcPts val="500"/>
              </a:spcAft>
              <a:defRPr sz="1200" b="1">
                <a:solidFill>
                  <a:srgbClr val="22583B"/>
                </a:solidFill>
                <a:latin typeface="Aptos"/>
              </a:defRPr>
            </a:pPr>
            <a:r>
              <a:rPr dirty="0">
                <a:solidFill>
                  <a:srgbClr val="92D050"/>
                </a:solidFill>
              </a:rPr>
              <a:t>What changed</a:t>
            </a:r>
          </a:p>
        </p:txBody>
      </p:sp>
      <p:sp>
        <p:nvSpPr>
          <p:cNvPr id="16" name="TextBox 15"/>
          <p:cNvSpPr txBox="1"/>
          <p:nvPr/>
        </p:nvSpPr>
        <p:spPr>
          <a:xfrm>
            <a:off x="2029968" y="6016751"/>
            <a:ext cx="8138160" cy="138499"/>
          </a:xfrm>
          <a:prstGeom prst="rect">
            <a:avLst/>
          </a:prstGeom>
          <a:noFill/>
        </p:spPr>
        <p:txBody>
          <a:bodyPr wrap="square" lIns="0" tIns="0" rIns="0" bIns="0" anchor="ctr">
            <a:spAutoFit/>
          </a:bodyPr>
          <a:lstStyle/>
          <a:p>
            <a:pPr algn="l">
              <a:spcAft>
                <a:spcPts val="500"/>
              </a:spcAft>
              <a:defRPr sz="900" b="0">
                <a:solidFill>
                  <a:srgbClr val="465049"/>
                </a:solidFill>
                <a:latin typeface="Aptos"/>
              </a:defRPr>
            </a:pPr>
            <a:r>
              <a:rPr dirty="0">
                <a:solidFill>
                  <a:schemeClr val="bg1"/>
                </a:solidFill>
              </a:rPr>
              <a:t>QR access is designed to identify the outlet and open its matching menu.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02920"/>
          </a:xfrm>
          <a:prstGeom prst="rect">
            <a:avLst/>
          </a:prstGeom>
          <a:noFill/>
        </p:spPr>
        <p:txBody>
          <a:bodyPr wrap="square" lIns="36576" tIns="36576" rIns="36576" bIns="36576" anchor="t">
            <a:spAutoFit/>
          </a:bodyPr>
          <a:lstStyle/>
          <a:p>
            <a:pPr algn="l">
              <a:spcAft>
                <a:spcPts val="500"/>
              </a:spcAft>
              <a:defRPr sz="2600" b="1">
                <a:solidFill>
                  <a:srgbClr val="F8FAFD"/>
                </a:solidFill>
                <a:latin typeface="Aptos"/>
              </a:defRPr>
            </a:pPr>
            <a:r>
              <a:t>Menu screen: previous vs redesigned</a:t>
            </a:r>
          </a:p>
        </p:txBody>
      </p:sp>
      <p:sp>
        <p:nvSpPr>
          <p:cNvPr id="3" name="TextBox 2"/>
          <p:cNvSpPr txBox="1"/>
          <p:nvPr/>
        </p:nvSpPr>
        <p:spPr>
          <a:xfrm>
            <a:off x="621792" y="822960"/>
            <a:ext cx="10789920" cy="310896"/>
          </a:xfrm>
          <a:prstGeom prst="rect">
            <a:avLst/>
          </a:prstGeom>
          <a:noFill/>
        </p:spPr>
        <p:txBody>
          <a:bodyPr wrap="square" lIns="36576" tIns="36576" rIns="36576" bIns="36576" anchor="t">
            <a:spAutoFit/>
          </a:bodyPr>
          <a:lstStyle/>
          <a:p>
            <a:pPr algn="l">
              <a:spcAft>
                <a:spcPts val="500"/>
              </a:spcAft>
              <a:defRPr sz="1100" b="0">
                <a:solidFill>
                  <a:srgbClr val="9DB1CA"/>
                </a:solidFill>
                <a:latin typeface="Aptos"/>
              </a:defRPr>
            </a:pPr>
            <a:r>
              <a:t>Keep product data dynamic while improving readability and shopping flow.</a:t>
            </a:r>
          </a:p>
        </p:txBody>
      </p:sp>
      <p:sp>
        <p:nvSpPr>
          <p:cNvPr id="4" name="Rectangle 3"/>
          <p:cNvSpPr/>
          <p:nvPr/>
        </p:nvSpPr>
        <p:spPr>
          <a:xfrm>
            <a:off x="621792" y="1243584"/>
            <a:ext cx="777240" cy="45720"/>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6530192"/>
            <a:ext cx="7772400" cy="164592"/>
          </a:xfrm>
          <a:prstGeom prst="rect">
            <a:avLst/>
          </a:prstGeom>
          <a:noFill/>
        </p:spPr>
        <p:txBody>
          <a:bodyPr wrap="square" lIns="36576" tIns="36576" rIns="36576" bIns="36576" anchor="t">
            <a:spAutoFit/>
          </a:bodyPr>
          <a:lstStyle/>
          <a:p>
            <a:pPr algn="l">
              <a:spcAft>
                <a:spcPts val="500"/>
              </a:spcAft>
              <a:defRPr sz="800" b="1">
                <a:solidFill>
                  <a:srgbClr val="9DB1CA"/>
                </a:solidFill>
                <a:latin typeface="Aptos"/>
              </a:defRPr>
            </a:pPr>
            <a:r>
              <a:t>JUICE ROBO • FRONTEND REDESIGN + EXISTING API INTEGRATION</a:t>
            </a:r>
          </a:p>
        </p:txBody>
      </p:sp>
      <p:sp>
        <p:nvSpPr>
          <p:cNvPr id="6" name="TextBox 5"/>
          <p:cNvSpPr txBox="1"/>
          <p:nvPr/>
        </p:nvSpPr>
        <p:spPr>
          <a:xfrm>
            <a:off x="11064240" y="6473952"/>
            <a:ext cx="411480" cy="182880"/>
          </a:xfrm>
          <a:prstGeom prst="rect">
            <a:avLst/>
          </a:prstGeom>
          <a:noFill/>
        </p:spPr>
        <p:txBody>
          <a:bodyPr wrap="square" lIns="36576" tIns="36576" rIns="36576" bIns="36576" anchor="t">
            <a:spAutoFit/>
          </a:bodyPr>
          <a:lstStyle/>
          <a:p>
            <a:pPr algn="r">
              <a:spcAft>
                <a:spcPts val="500"/>
              </a:spcAft>
              <a:defRPr sz="900" b="1">
                <a:solidFill>
                  <a:srgbClr val="9DB1CA"/>
                </a:solidFill>
                <a:latin typeface="Aptos"/>
              </a:defRPr>
            </a:pPr>
            <a:r>
              <a:t>06</a:t>
            </a:r>
          </a:p>
        </p:txBody>
      </p:sp>
      <p:sp>
        <p:nvSpPr>
          <p:cNvPr id="7" name="TextBox 6"/>
          <p:cNvSpPr txBox="1"/>
          <p:nvPr/>
        </p:nvSpPr>
        <p:spPr>
          <a:xfrm>
            <a:off x="1051560" y="1444752"/>
            <a:ext cx="3931920" cy="274320"/>
          </a:xfrm>
          <a:prstGeom prst="rect">
            <a:avLst/>
          </a:prstGeom>
          <a:noFill/>
        </p:spPr>
        <p:txBody>
          <a:bodyPr wrap="square" lIns="36576" tIns="36576" rIns="36576" bIns="36576" anchor="t">
            <a:spAutoFit/>
          </a:bodyPr>
          <a:lstStyle/>
          <a:p>
            <a:pPr algn="ctr">
              <a:spcAft>
                <a:spcPts val="500"/>
              </a:spcAft>
              <a:defRPr sz="1400" b="1">
                <a:solidFill>
                  <a:srgbClr val="F4B142"/>
                </a:solidFill>
                <a:latin typeface="Aptos"/>
              </a:defRPr>
            </a:pPr>
            <a:r>
              <a:t>PREVIOUS UI</a:t>
            </a:r>
          </a:p>
        </p:txBody>
      </p:sp>
      <p:pic>
        <p:nvPicPr>
          <p:cNvPr id="8" name="Picture 7" descr="old_menu.png"/>
          <p:cNvPicPr>
            <a:picLocks noChangeAspect="1"/>
          </p:cNvPicPr>
          <p:nvPr/>
        </p:nvPicPr>
        <p:blipFill>
          <a:blip r:embed="rId3"/>
          <a:stretch>
            <a:fillRect/>
          </a:stretch>
        </p:blipFill>
        <p:spPr>
          <a:xfrm>
            <a:off x="1965959" y="1783080"/>
            <a:ext cx="2103120" cy="3611880"/>
          </a:xfrm>
          <a:prstGeom prst="rect">
            <a:avLst/>
          </a:prstGeom>
        </p:spPr>
      </p:pic>
      <p:sp>
        <p:nvSpPr>
          <p:cNvPr id="9" name="Rounded Rectangle 8"/>
          <p:cNvSpPr/>
          <p:nvPr/>
        </p:nvSpPr>
        <p:spPr>
          <a:xfrm>
            <a:off x="1965959" y="1783080"/>
            <a:ext cx="2103120" cy="3611880"/>
          </a:xfrm>
          <a:prstGeom prst="roundRect">
            <a:avLst/>
          </a:prstGeom>
          <a:noFill/>
          <a:ln w="15240">
            <a:solidFill>
              <a:srgbClr val="415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444752"/>
            <a:ext cx="3931920" cy="274320"/>
          </a:xfrm>
          <a:prstGeom prst="rect">
            <a:avLst/>
          </a:prstGeom>
          <a:noFill/>
        </p:spPr>
        <p:txBody>
          <a:bodyPr wrap="square" lIns="36576" tIns="36576" rIns="36576" bIns="36576" anchor="t">
            <a:spAutoFit/>
          </a:bodyPr>
          <a:lstStyle/>
          <a:p>
            <a:pPr algn="ctr">
              <a:spcAft>
                <a:spcPts val="500"/>
              </a:spcAft>
              <a:defRPr sz="1400" b="1">
                <a:solidFill>
                  <a:srgbClr val="2CB07D"/>
                </a:solidFill>
                <a:latin typeface="Aptos"/>
              </a:defRPr>
            </a:pPr>
            <a:r>
              <a:t>REDESIGNED UI</a:t>
            </a:r>
          </a:p>
        </p:txBody>
      </p:sp>
      <p:pic>
        <p:nvPicPr>
          <p:cNvPr id="11" name="Picture 10" descr="new_menu.png"/>
          <p:cNvPicPr>
            <a:picLocks noChangeAspect="1"/>
          </p:cNvPicPr>
          <p:nvPr/>
        </p:nvPicPr>
        <p:blipFill>
          <a:blip r:embed="rId4"/>
          <a:stretch>
            <a:fillRect/>
          </a:stretch>
        </p:blipFill>
        <p:spPr>
          <a:xfrm>
            <a:off x="7360919" y="1783080"/>
            <a:ext cx="2103120" cy="3611880"/>
          </a:xfrm>
          <a:prstGeom prst="rect">
            <a:avLst/>
          </a:prstGeom>
        </p:spPr>
      </p:pic>
      <p:sp>
        <p:nvSpPr>
          <p:cNvPr id="12" name="Rounded Rectangle 11"/>
          <p:cNvSpPr/>
          <p:nvPr/>
        </p:nvSpPr>
        <p:spPr>
          <a:xfrm>
            <a:off x="7360919" y="1783080"/>
            <a:ext cx="2103120" cy="3611880"/>
          </a:xfrm>
          <a:prstGeom prst="roundRect">
            <a:avLst/>
          </a:prstGeom>
          <a:noFill/>
          <a:ln w="15240">
            <a:solidFill>
              <a:srgbClr val="415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805940" y="5559552"/>
            <a:ext cx="8549640" cy="694944"/>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828800" y="5559552"/>
            <a:ext cx="54864" cy="694944"/>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29968" y="5680540"/>
            <a:ext cx="8138160" cy="184666"/>
          </a:xfrm>
          <a:prstGeom prst="rect">
            <a:avLst/>
          </a:prstGeom>
          <a:noFill/>
        </p:spPr>
        <p:txBody>
          <a:bodyPr wrap="square" lIns="0" tIns="0" rIns="0" bIns="0" anchor="ctr">
            <a:spAutoFit/>
          </a:bodyPr>
          <a:lstStyle/>
          <a:p>
            <a:pPr algn="l">
              <a:spcAft>
                <a:spcPts val="500"/>
              </a:spcAft>
              <a:defRPr sz="1200" b="1">
                <a:solidFill>
                  <a:srgbClr val="22583B"/>
                </a:solidFill>
                <a:latin typeface="Aptos"/>
              </a:defRPr>
            </a:pPr>
            <a:r>
              <a:rPr dirty="0">
                <a:solidFill>
                  <a:schemeClr val="accent3"/>
                </a:solidFill>
              </a:rPr>
              <a:t>What changed</a:t>
            </a:r>
          </a:p>
        </p:txBody>
      </p:sp>
      <p:sp>
        <p:nvSpPr>
          <p:cNvPr id="16" name="TextBox 15"/>
          <p:cNvSpPr txBox="1"/>
          <p:nvPr/>
        </p:nvSpPr>
        <p:spPr>
          <a:xfrm>
            <a:off x="2029968" y="5947502"/>
            <a:ext cx="8138160" cy="138499"/>
          </a:xfrm>
          <a:prstGeom prst="rect">
            <a:avLst/>
          </a:prstGeom>
          <a:noFill/>
        </p:spPr>
        <p:txBody>
          <a:bodyPr wrap="square" lIns="0" tIns="0" rIns="0" bIns="0" anchor="ctr">
            <a:spAutoFit/>
          </a:bodyPr>
          <a:lstStyle/>
          <a:p>
            <a:pPr algn="l">
              <a:spcAft>
                <a:spcPts val="500"/>
              </a:spcAft>
              <a:defRPr sz="900" b="0">
                <a:solidFill>
                  <a:srgbClr val="465049"/>
                </a:solidFill>
                <a:latin typeface="Aptos"/>
              </a:defRPr>
            </a:pPr>
            <a:r>
              <a:rPr dirty="0">
                <a:solidFill>
                  <a:schemeClr val="bg1"/>
                </a:solidFill>
              </a:rPr>
              <a:t>The refreshed menu improves browsing; item names, prices, and availability remain API-driven.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02920"/>
          </a:xfrm>
          <a:prstGeom prst="rect">
            <a:avLst/>
          </a:prstGeom>
          <a:noFill/>
        </p:spPr>
        <p:txBody>
          <a:bodyPr wrap="square" lIns="36576" tIns="36576" rIns="36576" bIns="36576" anchor="t">
            <a:spAutoFit/>
          </a:bodyPr>
          <a:lstStyle/>
          <a:p>
            <a:pPr algn="l">
              <a:spcAft>
                <a:spcPts val="500"/>
              </a:spcAft>
              <a:defRPr sz="2600" b="1">
                <a:solidFill>
                  <a:srgbClr val="F8FAFD"/>
                </a:solidFill>
                <a:latin typeface="Aptos"/>
              </a:defRPr>
            </a:pPr>
            <a:r>
              <a:t>Cart screen: previous vs redesigned</a:t>
            </a:r>
          </a:p>
        </p:txBody>
      </p:sp>
      <p:sp>
        <p:nvSpPr>
          <p:cNvPr id="3" name="TextBox 2"/>
          <p:cNvSpPr txBox="1"/>
          <p:nvPr/>
        </p:nvSpPr>
        <p:spPr>
          <a:xfrm>
            <a:off x="621792" y="822960"/>
            <a:ext cx="10789920" cy="310896"/>
          </a:xfrm>
          <a:prstGeom prst="rect">
            <a:avLst/>
          </a:prstGeom>
          <a:noFill/>
        </p:spPr>
        <p:txBody>
          <a:bodyPr wrap="square" lIns="36576" tIns="36576" rIns="36576" bIns="36576" anchor="t">
            <a:spAutoFit/>
          </a:bodyPr>
          <a:lstStyle/>
          <a:p>
            <a:pPr algn="l">
              <a:spcAft>
                <a:spcPts val="500"/>
              </a:spcAft>
              <a:defRPr sz="1100" b="0">
                <a:solidFill>
                  <a:srgbClr val="9DB1CA"/>
                </a:solidFill>
                <a:latin typeface="Aptos"/>
              </a:defRPr>
            </a:pPr>
            <a:r>
              <a:rPr sz="1100">
                <a:solidFill>
                  <a:srgbClr val="E0EAF6"/>
                </a:solidFill>
                <a:latin typeface="Aptos"/>
              </a:rPr>
              <a:t>Latest cart UI: outlet/machine, item quantity, GST breakdown, and total in one flow.</a:t>
            </a:r>
          </a:p>
        </p:txBody>
      </p:sp>
      <p:sp>
        <p:nvSpPr>
          <p:cNvPr id="4" name="Rectangle 3"/>
          <p:cNvSpPr/>
          <p:nvPr/>
        </p:nvSpPr>
        <p:spPr>
          <a:xfrm>
            <a:off x="621792" y="1243584"/>
            <a:ext cx="777240" cy="45720"/>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6510528"/>
            <a:ext cx="7772400" cy="164592"/>
          </a:xfrm>
          <a:prstGeom prst="rect">
            <a:avLst/>
          </a:prstGeom>
          <a:noFill/>
        </p:spPr>
        <p:txBody>
          <a:bodyPr wrap="square" lIns="36576" tIns="36576" rIns="36576" bIns="36576" anchor="t">
            <a:spAutoFit/>
          </a:bodyPr>
          <a:lstStyle/>
          <a:p>
            <a:pPr algn="l">
              <a:spcAft>
                <a:spcPts val="500"/>
              </a:spcAft>
              <a:defRPr sz="800" b="1">
                <a:solidFill>
                  <a:srgbClr val="9DB1CA"/>
                </a:solidFill>
                <a:latin typeface="Aptos"/>
              </a:defRPr>
            </a:pPr>
            <a:r>
              <a:t>JUICE ROBO • FRONTEND REDESIGN + EXISTING API INTEGRATION</a:t>
            </a:r>
          </a:p>
        </p:txBody>
      </p:sp>
      <p:sp>
        <p:nvSpPr>
          <p:cNvPr id="6" name="TextBox 5"/>
          <p:cNvSpPr txBox="1"/>
          <p:nvPr/>
        </p:nvSpPr>
        <p:spPr>
          <a:xfrm>
            <a:off x="11064240" y="6473952"/>
            <a:ext cx="411480" cy="182880"/>
          </a:xfrm>
          <a:prstGeom prst="rect">
            <a:avLst/>
          </a:prstGeom>
          <a:noFill/>
        </p:spPr>
        <p:txBody>
          <a:bodyPr wrap="square" lIns="36576" tIns="36576" rIns="36576" bIns="36576" anchor="t">
            <a:spAutoFit/>
          </a:bodyPr>
          <a:lstStyle/>
          <a:p>
            <a:pPr algn="r">
              <a:spcAft>
                <a:spcPts val="500"/>
              </a:spcAft>
              <a:defRPr sz="900" b="1">
                <a:solidFill>
                  <a:srgbClr val="9DB1CA"/>
                </a:solidFill>
                <a:latin typeface="Aptos"/>
              </a:defRPr>
            </a:pPr>
            <a:r>
              <a:t>07</a:t>
            </a:r>
          </a:p>
        </p:txBody>
      </p:sp>
      <p:sp>
        <p:nvSpPr>
          <p:cNvPr id="7" name="TextBox 6"/>
          <p:cNvSpPr txBox="1"/>
          <p:nvPr/>
        </p:nvSpPr>
        <p:spPr>
          <a:xfrm>
            <a:off x="1051560" y="1444752"/>
            <a:ext cx="3931920" cy="274320"/>
          </a:xfrm>
          <a:prstGeom prst="rect">
            <a:avLst/>
          </a:prstGeom>
          <a:noFill/>
        </p:spPr>
        <p:txBody>
          <a:bodyPr wrap="square" lIns="36576" tIns="36576" rIns="36576" bIns="36576" anchor="t">
            <a:spAutoFit/>
          </a:bodyPr>
          <a:lstStyle/>
          <a:p>
            <a:pPr algn="ctr">
              <a:spcAft>
                <a:spcPts val="500"/>
              </a:spcAft>
              <a:defRPr sz="1400" b="1">
                <a:solidFill>
                  <a:srgbClr val="F4B142"/>
                </a:solidFill>
                <a:latin typeface="Aptos"/>
              </a:defRPr>
            </a:pPr>
            <a:r>
              <a:t>PREVIOUS UI</a:t>
            </a:r>
          </a:p>
        </p:txBody>
      </p:sp>
      <p:pic>
        <p:nvPicPr>
          <p:cNvPr id="8" name="Picture 7" descr="old_cart.png"/>
          <p:cNvPicPr>
            <a:picLocks noChangeAspect="1"/>
          </p:cNvPicPr>
          <p:nvPr/>
        </p:nvPicPr>
        <p:blipFill>
          <a:blip r:embed="rId3"/>
          <a:stretch>
            <a:fillRect/>
          </a:stretch>
        </p:blipFill>
        <p:spPr>
          <a:xfrm>
            <a:off x="1965959" y="1783080"/>
            <a:ext cx="2103120" cy="3611880"/>
          </a:xfrm>
          <a:prstGeom prst="rect">
            <a:avLst/>
          </a:prstGeom>
        </p:spPr>
      </p:pic>
      <p:sp>
        <p:nvSpPr>
          <p:cNvPr id="9" name="Rounded Rectangle 8"/>
          <p:cNvSpPr/>
          <p:nvPr/>
        </p:nvSpPr>
        <p:spPr>
          <a:xfrm>
            <a:off x="1965959" y="1783080"/>
            <a:ext cx="2103120" cy="3611880"/>
          </a:xfrm>
          <a:prstGeom prst="roundRect">
            <a:avLst/>
          </a:prstGeom>
          <a:noFill/>
          <a:ln w="15240">
            <a:solidFill>
              <a:srgbClr val="415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444752"/>
            <a:ext cx="3931920" cy="274320"/>
          </a:xfrm>
          <a:prstGeom prst="rect">
            <a:avLst/>
          </a:prstGeom>
          <a:noFill/>
        </p:spPr>
        <p:txBody>
          <a:bodyPr wrap="square" lIns="36576" tIns="36576" rIns="36576" bIns="36576" anchor="t">
            <a:spAutoFit/>
          </a:bodyPr>
          <a:lstStyle/>
          <a:p>
            <a:pPr algn="ctr">
              <a:spcAft>
                <a:spcPts val="500"/>
              </a:spcAft>
              <a:defRPr sz="1400" b="1">
                <a:solidFill>
                  <a:srgbClr val="2CB07D"/>
                </a:solidFill>
                <a:latin typeface="Aptos"/>
              </a:defRPr>
            </a:pPr>
            <a:r>
              <a:t>REDESIGNED UI</a:t>
            </a:r>
          </a:p>
        </p:txBody>
      </p:sp>
      <p:sp>
        <p:nvSpPr>
          <p:cNvPr id="12" name="Rounded Rectangle 11"/>
          <p:cNvSpPr/>
          <p:nvPr/>
        </p:nvSpPr>
        <p:spPr>
          <a:xfrm>
            <a:off x="7246143" y="5605272"/>
            <a:ext cx="2332672" cy="713232"/>
          </a:xfrm>
          <a:prstGeom prst="roundRect">
            <a:avLst/>
          </a:prstGeom>
          <a:noFill/>
          <a:ln w="15240">
            <a:solidFill>
              <a:srgbClr val="4157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828800" y="5559552"/>
            <a:ext cx="8549640" cy="694944"/>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828800" y="5559552"/>
            <a:ext cx="54864" cy="694944"/>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11680" y="5680540"/>
            <a:ext cx="8138160" cy="184666"/>
          </a:xfrm>
          <a:prstGeom prst="rect">
            <a:avLst/>
          </a:prstGeom>
          <a:noFill/>
        </p:spPr>
        <p:txBody>
          <a:bodyPr wrap="square" lIns="0" tIns="0" rIns="0" bIns="0" anchor="ctr">
            <a:spAutoFit/>
          </a:bodyPr>
          <a:lstStyle/>
          <a:p>
            <a:pPr algn="l">
              <a:spcAft>
                <a:spcPts val="500"/>
              </a:spcAft>
              <a:defRPr sz="1200" b="1">
                <a:solidFill>
                  <a:srgbClr val="22583B"/>
                </a:solidFill>
                <a:latin typeface="Aptos"/>
              </a:defRPr>
            </a:pPr>
            <a:r>
              <a:rPr dirty="0">
                <a:solidFill>
                  <a:srgbClr val="92D050"/>
                </a:solidFill>
              </a:rPr>
              <a:t>What changed</a:t>
            </a:r>
          </a:p>
        </p:txBody>
      </p:sp>
      <p:sp>
        <p:nvSpPr>
          <p:cNvPr id="16" name="TextBox 15"/>
          <p:cNvSpPr txBox="1"/>
          <p:nvPr/>
        </p:nvSpPr>
        <p:spPr>
          <a:xfrm>
            <a:off x="2029968" y="5947502"/>
            <a:ext cx="8138160" cy="138499"/>
          </a:xfrm>
          <a:prstGeom prst="rect">
            <a:avLst/>
          </a:prstGeom>
          <a:noFill/>
        </p:spPr>
        <p:txBody>
          <a:bodyPr wrap="square" lIns="0" tIns="0" rIns="0" bIns="0" anchor="ctr">
            <a:spAutoFit/>
          </a:bodyPr>
          <a:lstStyle/>
          <a:p>
            <a:pPr algn="l">
              <a:spcAft>
                <a:spcPts val="500"/>
              </a:spcAft>
              <a:defRPr sz="900" b="0">
                <a:solidFill>
                  <a:srgbClr val="465049"/>
                </a:solidFill>
                <a:latin typeface="Aptos"/>
              </a:defRPr>
            </a:pPr>
            <a:r>
              <a:rPr dirty="0">
                <a:solidFill>
                  <a:schemeClr val="bg1"/>
                </a:solidFill>
              </a:rPr>
              <a:t>The cart groups collection details, quantity controls, subtotal, 5% GST, total, and Continue. Existing order and payment logic remains in use.</a:t>
            </a:r>
          </a:p>
        </p:txBody>
      </p:sp>
      <p:pic>
        <p:nvPicPr>
          <p:cNvPr id="17" name="Picture 16" descr="image.png"/>
          <p:cNvPicPr>
            <a:picLocks noChangeAspect="1"/>
          </p:cNvPicPr>
          <p:nvPr/>
        </p:nvPicPr>
        <p:blipFill>
          <a:blip r:embed="rId4"/>
          <a:stretch>
            <a:fillRect/>
          </a:stretch>
        </p:blipFill>
        <p:spPr>
          <a:xfrm>
            <a:off x="7375113" y="1737360"/>
            <a:ext cx="2038158" cy="35661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02920"/>
          </a:xfrm>
          <a:prstGeom prst="rect">
            <a:avLst/>
          </a:prstGeom>
          <a:noFill/>
        </p:spPr>
        <p:txBody>
          <a:bodyPr wrap="square" lIns="36576" tIns="36576" rIns="36576" bIns="36576" anchor="t">
            <a:spAutoFit/>
          </a:bodyPr>
          <a:lstStyle/>
          <a:p>
            <a:pPr algn="l">
              <a:spcAft>
                <a:spcPts val="500"/>
              </a:spcAft>
              <a:defRPr sz="2600" b="1">
                <a:solidFill>
                  <a:srgbClr val="F8FAFD"/>
                </a:solidFill>
                <a:latin typeface="Aptos"/>
              </a:defRPr>
            </a:pPr>
            <a:r>
              <a:t>New addition: profile screen</a:t>
            </a:r>
          </a:p>
        </p:txBody>
      </p:sp>
      <p:sp>
        <p:nvSpPr>
          <p:cNvPr id="3" name="TextBox 2"/>
          <p:cNvSpPr txBox="1"/>
          <p:nvPr/>
        </p:nvSpPr>
        <p:spPr>
          <a:xfrm>
            <a:off x="621792" y="822960"/>
            <a:ext cx="10789920" cy="310896"/>
          </a:xfrm>
          <a:prstGeom prst="rect">
            <a:avLst/>
          </a:prstGeom>
          <a:noFill/>
        </p:spPr>
        <p:txBody>
          <a:bodyPr wrap="square" lIns="36576" tIns="36576" rIns="36576" bIns="36576" anchor="t">
            <a:spAutoFit/>
          </a:bodyPr>
          <a:lstStyle/>
          <a:p>
            <a:pPr algn="l">
              <a:spcAft>
                <a:spcPts val="500"/>
              </a:spcAft>
              <a:defRPr sz="1100" b="0">
                <a:solidFill>
                  <a:srgbClr val="9DB1CA"/>
                </a:solidFill>
                <a:latin typeface="Aptos"/>
              </a:defRPr>
            </a:pPr>
            <a:r>
              <a:t>A redesigned account area extends the existing customer experience.</a:t>
            </a:r>
          </a:p>
        </p:txBody>
      </p:sp>
      <p:sp>
        <p:nvSpPr>
          <p:cNvPr id="4" name="Rectangle 3"/>
          <p:cNvSpPr/>
          <p:nvPr/>
        </p:nvSpPr>
        <p:spPr>
          <a:xfrm>
            <a:off x="621792" y="1243584"/>
            <a:ext cx="777240" cy="45720"/>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6510528"/>
            <a:ext cx="7772400" cy="164592"/>
          </a:xfrm>
          <a:prstGeom prst="rect">
            <a:avLst/>
          </a:prstGeom>
          <a:noFill/>
        </p:spPr>
        <p:txBody>
          <a:bodyPr wrap="square" lIns="36576" tIns="36576" rIns="36576" bIns="36576" anchor="t">
            <a:spAutoFit/>
          </a:bodyPr>
          <a:lstStyle/>
          <a:p>
            <a:pPr algn="l">
              <a:spcAft>
                <a:spcPts val="500"/>
              </a:spcAft>
              <a:defRPr sz="800" b="1">
                <a:solidFill>
                  <a:srgbClr val="9DB1CA"/>
                </a:solidFill>
                <a:latin typeface="Aptos"/>
              </a:defRPr>
            </a:pPr>
            <a:r>
              <a:t>JUICE ROBO • FRONTEND REDESIGN + EXISTING API INTEGRATION</a:t>
            </a:r>
          </a:p>
        </p:txBody>
      </p:sp>
      <p:sp>
        <p:nvSpPr>
          <p:cNvPr id="6" name="TextBox 5"/>
          <p:cNvSpPr txBox="1"/>
          <p:nvPr/>
        </p:nvSpPr>
        <p:spPr>
          <a:xfrm>
            <a:off x="11064240" y="6473952"/>
            <a:ext cx="411480" cy="182880"/>
          </a:xfrm>
          <a:prstGeom prst="rect">
            <a:avLst/>
          </a:prstGeom>
          <a:noFill/>
        </p:spPr>
        <p:txBody>
          <a:bodyPr wrap="square" lIns="36576" tIns="36576" rIns="36576" bIns="36576" anchor="t">
            <a:spAutoFit/>
          </a:bodyPr>
          <a:lstStyle/>
          <a:p>
            <a:pPr algn="r">
              <a:spcAft>
                <a:spcPts val="500"/>
              </a:spcAft>
              <a:defRPr sz="900" b="1">
                <a:solidFill>
                  <a:srgbClr val="9DB1CA"/>
                </a:solidFill>
                <a:latin typeface="Aptos"/>
              </a:defRPr>
            </a:pPr>
            <a:r>
              <a:t>08</a:t>
            </a:r>
          </a:p>
        </p:txBody>
      </p:sp>
      <p:sp>
        <p:nvSpPr>
          <p:cNvPr id="8" name="Rounded Rectangle 7"/>
          <p:cNvSpPr/>
          <p:nvPr/>
        </p:nvSpPr>
        <p:spPr>
          <a:xfrm>
            <a:off x="4754880" y="1828800"/>
            <a:ext cx="5943600" cy="1188720"/>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754880" y="1828800"/>
            <a:ext cx="54864" cy="1188720"/>
          </a:xfrm>
          <a:prstGeom prst="rect">
            <a:avLst/>
          </a:prstGeom>
          <a:solidFill>
            <a:srgbClr val="2CB0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28616" y="2179379"/>
            <a:ext cx="5623560" cy="184666"/>
          </a:xfrm>
          <a:prstGeom prst="rect">
            <a:avLst/>
          </a:prstGeom>
          <a:noFill/>
        </p:spPr>
        <p:txBody>
          <a:bodyPr wrap="square" lIns="0" tIns="0" rIns="0" bIns="0" anchor="ctr">
            <a:spAutoFit/>
          </a:bodyPr>
          <a:lstStyle/>
          <a:p>
            <a:pPr algn="l">
              <a:spcAft>
                <a:spcPts val="500"/>
              </a:spcAft>
              <a:defRPr sz="1200" b="1">
                <a:solidFill>
                  <a:srgbClr val="22583B"/>
                </a:solidFill>
                <a:latin typeface="Aptos"/>
              </a:defRPr>
            </a:pPr>
            <a:r>
              <a:rPr dirty="0">
                <a:solidFill>
                  <a:schemeClr val="accent3"/>
                </a:solidFill>
              </a:rPr>
              <a:t>Profile details</a:t>
            </a:r>
          </a:p>
        </p:txBody>
      </p:sp>
      <p:sp>
        <p:nvSpPr>
          <p:cNvPr id="11" name="TextBox 10"/>
          <p:cNvSpPr txBox="1"/>
          <p:nvPr/>
        </p:nvSpPr>
        <p:spPr>
          <a:xfrm>
            <a:off x="4928616" y="2423160"/>
            <a:ext cx="5596128" cy="153888"/>
          </a:xfrm>
          <a:prstGeom prst="rect">
            <a:avLst/>
          </a:prstGeom>
          <a:noFill/>
        </p:spPr>
        <p:txBody>
          <a:bodyPr wrap="square" lIns="0" tIns="0" rIns="0" bIns="0" anchor="ctr">
            <a:spAutoFit/>
          </a:bodyPr>
          <a:lstStyle/>
          <a:p>
            <a:pPr algn="l">
              <a:spcAft>
                <a:spcPts val="500"/>
              </a:spcAft>
              <a:defRPr sz="1000" b="0">
                <a:solidFill>
                  <a:srgbClr val="465049"/>
                </a:solidFill>
                <a:latin typeface="Aptos"/>
              </a:defRPr>
            </a:pPr>
            <a:r>
              <a:rPr dirty="0">
                <a:solidFill>
                  <a:schemeClr val="bg1"/>
                </a:solidFill>
              </a:rPr>
              <a:t>Shows the registered customer name and email in read-only fields.</a:t>
            </a:r>
          </a:p>
        </p:txBody>
      </p:sp>
      <p:sp>
        <p:nvSpPr>
          <p:cNvPr id="12" name="Rounded Rectangle 11"/>
          <p:cNvSpPr/>
          <p:nvPr/>
        </p:nvSpPr>
        <p:spPr>
          <a:xfrm>
            <a:off x="4754880" y="3246120"/>
            <a:ext cx="5943600" cy="1188720"/>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754880" y="3246120"/>
            <a:ext cx="54864" cy="1188720"/>
          </a:xfrm>
          <a:prstGeom prst="rect">
            <a:avLst/>
          </a:prstGeom>
          <a:solidFill>
            <a:srgbClr val="37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37760" y="3591806"/>
            <a:ext cx="5623560" cy="184666"/>
          </a:xfrm>
          <a:prstGeom prst="rect">
            <a:avLst/>
          </a:prstGeom>
          <a:noFill/>
        </p:spPr>
        <p:txBody>
          <a:bodyPr wrap="square" lIns="0" tIns="0" rIns="0" bIns="0" anchor="ctr">
            <a:spAutoFit/>
          </a:bodyPr>
          <a:lstStyle/>
          <a:p>
            <a:pPr algn="l">
              <a:spcAft>
                <a:spcPts val="500"/>
              </a:spcAft>
              <a:defRPr sz="1200" b="1">
                <a:solidFill>
                  <a:srgbClr val="22583B"/>
                </a:solidFill>
                <a:latin typeface="Aptos"/>
              </a:defRPr>
            </a:pPr>
            <a:r>
              <a:rPr dirty="0">
                <a:solidFill>
                  <a:schemeClr val="accent3"/>
                </a:solidFill>
              </a:rPr>
              <a:t>Account navigation</a:t>
            </a:r>
          </a:p>
        </p:txBody>
      </p:sp>
      <p:sp>
        <p:nvSpPr>
          <p:cNvPr id="15" name="TextBox 14"/>
          <p:cNvSpPr txBox="1"/>
          <p:nvPr/>
        </p:nvSpPr>
        <p:spPr>
          <a:xfrm>
            <a:off x="4928616" y="3840480"/>
            <a:ext cx="5596128" cy="153888"/>
          </a:xfrm>
          <a:prstGeom prst="rect">
            <a:avLst/>
          </a:prstGeom>
          <a:noFill/>
        </p:spPr>
        <p:txBody>
          <a:bodyPr wrap="square" lIns="0" tIns="0" rIns="0" bIns="0" anchor="ctr">
            <a:spAutoFit/>
          </a:bodyPr>
          <a:lstStyle/>
          <a:p>
            <a:pPr algn="l">
              <a:spcAft>
                <a:spcPts val="500"/>
              </a:spcAft>
              <a:defRPr sz="1000" b="0">
                <a:solidFill>
                  <a:srgbClr val="465049"/>
                </a:solidFill>
                <a:latin typeface="Aptos"/>
              </a:defRPr>
            </a:pPr>
            <a:r>
              <a:rPr dirty="0">
                <a:solidFill>
                  <a:schemeClr val="bg1"/>
                </a:solidFill>
              </a:rPr>
              <a:t>Provides access to saved orders and sign-out from the Juice Robo account.</a:t>
            </a:r>
          </a:p>
        </p:txBody>
      </p:sp>
      <p:sp>
        <p:nvSpPr>
          <p:cNvPr id="16" name="TextBox 15"/>
          <p:cNvSpPr txBox="1"/>
          <p:nvPr/>
        </p:nvSpPr>
        <p:spPr>
          <a:xfrm>
            <a:off x="4800600" y="4800600"/>
            <a:ext cx="5852160" cy="685800"/>
          </a:xfrm>
          <a:prstGeom prst="rect">
            <a:avLst/>
          </a:prstGeom>
          <a:noFill/>
        </p:spPr>
        <p:txBody>
          <a:bodyPr wrap="square" lIns="0" tIns="0" rIns="0" bIns="0" anchor="ctr">
            <a:spAutoFit/>
          </a:bodyPr>
          <a:lstStyle/>
          <a:p>
            <a:pPr algn="l">
              <a:spcAft>
                <a:spcPts val="500"/>
              </a:spcAft>
              <a:defRPr sz="1000" b="0">
                <a:solidFill>
                  <a:srgbClr val="465049"/>
                </a:solidFill>
                <a:latin typeface="Aptos"/>
              </a:defRPr>
            </a:pPr>
            <a:r>
              <a:t>Profile data is displayed as read-only. The screen also links to saved orders and sign-out.</a:t>
            </a:r>
          </a:p>
        </p:txBody>
      </p:sp>
      <p:pic>
        <p:nvPicPr>
          <p:cNvPr id="17" name="Picture 16" descr="WhatsApp Image 2026-10-26 at 11.15.56 AM.jpeg"/>
          <p:cNvPicPr>
            <a:picLocks noChangeAspect="1"/>
          </p:cNvPicPr>
          <p:nvPr/>
        </p:nvPicPr>
        <p:blipFill>
          <a:blip r:embed="rId3"/>
          <a:stretch>
            <a:fillRect/>
          </a:stretch>
        </p:blipFill>
        <p:spPr>
          <a:xfrm>
            <a:off x="1543496" y="1508760"/>
            <a:ext cx="2216527" cy="4800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B3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502920"/>
          </a:xfrm>
          <a:prstGeom prst="rect">
            <a:avLst/>
          </a:prstGeom>
          <a:noFill/>
        </p:spPr>
        <p:txBody>
          <a:bodyPr wrap="square" lIns="36576" tIns="36576" rIns="36576" bIns="36576" anchor="t">
            <a:spAutoFit/>
          </a:bodyPr>
          <a:lstStyle/>
          <a:p>
            <a:pPr algn="l">
              <a:spcAft>
                <a:spcPts val="500"/>
              </a:spcAft>
              <a:defRPr sz="2600" b="1">
                <a:solidFill>
                  <a:srgbClr val="F8FAFD"/>
                </a:solidFill>
                <a:latin typeface="Aptos"/>
              </a:defRPr>
            </a:pPr>
            <a:r>
              <a:t>UPI payment and 4-digit pickup code</a:t>
            </a:r>
          </a:p>
        </p:txBody>
      </p:sp>
      <p:sp>
        <p:nvSpPr>
          <p:cNvPr id="3" name="TextBox 2"/>
          <p:cNvSpPr txBox="1"/>
          <p:nvPr/>
        </p:nvSpPr>
        <p:spPr>
          <a:xfrm>
            <a:off x="621792" y="822960"/>
            <a:ext cx="10789920" cy="310896"/>
          </a:xfrm>
          <a:prstGeom prst="rect">
            <a:avLst/>
          </a:prstGeom>
          <a:noFill/>
        </p:spPr>
        <p:txBody>
          <a:bodyPr wrap="square" lIns="36576" tIns="36576" rIns="36576" bIns="36576" anchor="t">
            <a:spAutoFit/>
          </a:bodyPr>
          <a:lstStyle/>
          <a:p>
            <a:pPr algn="l">
              <a:spcAft>
                <a:spcPts val="500"/>
              </a:spcAft>
              <a:defRPr sz="1100" b="0">
                <a:solidFill>
                  <a:srgbClr val="9DB1CA"/>
                </a:solidFill>
                <a:latin typeface="Aptos"/>
              </a:defRPr>
            </a:pPr>
            <a:r>
              <a:t>Open the payment app, then trust the backend—not the app handoff.</a:t>
            </a:r>
          </a:p>
        </p:txBody>
      </p:sp>
      <p:sp>
        <p:nvSpPr>
          <p:cNvPr id="4" name="Rectangle 3"/>
          <p:cNvSpPr/>
          <p:nvPr/>
        </p:nvSpPr>
        <p:spPr>
          <a:xfrm>
            <a:off x="621792" y="1243584"/>
            <a:ext cx="777240" cy="45720"/>
          </a:xfrm>
          <a:prstGeom prst="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6510528"/>
            <a:ext cx="7772400" cy="164592"/>
          </a:xfrm>
          <a:prstGeom prst="rect">
            <a:avLst/>
          </a:prstGeom>
          <a:noFill/>
        </p:spPr>
        <p:txBody>
          <a:bodyPr wrap="square" lIns="36576" tIns="36576" rIns="36576" bIns="36576" anchor="t">
            <a:spAutoFit/>
          </a:bodyPr>
          <a:lstStyle/>
          <a:p>
            <a:pPr algn="l">
              <a:spcAft>
                <a:spcPts val="500"/>
              </a:spcAft>
              <a:defRPr sz="800" b="1">
                <a:solidFill>
                  <a:srgbClr val="9DB1CA"/>
                </a:solidFill>
                <a:latin typeface="Aptos"/>
              </a:defRPr>
            </a:pPr>
            <a:r>
              <a:t>JUICE ROBO • FRONTEND REDESIGN + EXISTING API INTEGRATION</a:t>
            </a:r>
          </a:p>
        </p:txBody>
      </p:sp>
      <p:sp>
        <p:nvSpPr>
          <p:cNvPr id="6" name="TextBox 5"/>
          <p:cNvSpPr txBox="1"/>
          <p:nvPr/>
        </p:nvSpPr>
        <p:spPr>
          <a:xfrm>
            <a:off x="11064240" y="6473952"/>
            <a:ext cx="411480" cy="182880"/>
          </a:xfrm>
          <a:prstGeom prst="rect">
            <a:avLst/>
          </a:prstGeom>
          <a:noFill/>
        </p:spPr>
        <p:txBody>
          <a:bodyPr wrap="square" lIns="36576" tIns="36576" rIns="36576" bIns="36576" anchor="t">
            <a:spAutoFit/>
          </a:bodyPr>
          <a:lstStyle/>
          <a:p>
            <a:pPr algn="r">
              <a:spcAft>
                <a:spcPts val="500"/>
              </a:spcAft>
              <a:defRPr sz="900" b="1">
                <a:solidFill>
                  <a:srgbClr val="9DB1CA"/>
                </a:solidFill>
                <a:latin typeface="Aptos"/>
              </a:defRPr>
            </a:pPr>
            <a:r>
              <a:t>09</a:t>
            </a:r>
          </a:p>
        </p:txBody>
      </p:sp>
      <p:sp>
        <p:nvSpPr>
          <p:cNvPr id="7" name="Rounded Rectangle 6"/>
          <p:cNvSpPr/>
          <p:nvPr/>
        </p:nvSpPr>
        <p:spPr>
          <a:xfrm>
            <a:off x="594360" y="1828800"/>
            <a:ext cx="2057400" cy="1051560"/>
          </a:xfrm>
          <a:prstGeom prst="roundRect">
            <a:avLst/>
          </a:prstGeom>
          <a:solidFill>
            <a:srgbClr val="377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938528"/>
            <a:ext cx="1911095" cy="274320"/>
          </a:xfrm>
          <a:prstGeom prst="rect">
            <a:avLst/>
          </a:prstGeom>
          <a:noFill/>
        </p:spPr>
        <p:txBody>
          <a:bodyPr wrap="square" lIns="36576" tIns="36576" rIns="36576" bIns="36576" anchor="t">
            <a:spAutoFit/>
          </a:bodyPr>
          <a:lstStyle/>
          <a:p>
            <a:pPr algn="ctr">
              <a:spcAft>
                <a:spcPts val="500"/>
              </a:spcAft>
              <a:defRPr sz="1400" b="1">
                <a:solidFill>
                  <a:srgbClr val="F8FAFD"/>
                </a:solidFill>
                <a:latin typeface="Aptos"/>
              </a:defRPr>
            </a:pPr>
            <a:r>
              <a:t>Checkout</a:t>
            </a:r>
          </a:p>
        </p:txBody>
      </p:sp>
      <p:sp>
        <p:nvSpPr>
          <p:cNvPr id="9" name="TextBox 8"/>
          <p:cNvSpPr txBox="1"/>
          <p:nvPr/>
        </p:nvSpPr>
        <p:spPr>
          <a:xfrm>
            <a:off x="667512" y="2267712"/>
            <a:ext cx="1911095" cy="576071"/>
          </a:xfrm>
          <a:prstGeom prst="rect">
            <a:avLst/>
          </a:prstGeom>
          <a:noFill/>
        </p:spPr>
        <p:txBody>
          <a:bodyPr wrap="square" lIns="36576" tIns="36576" rIns="36576" bIns="36576" anchor="t">
            <a:spAutoFit/>
          </a:bodyPr>
          <a:lstStyle/>
          <a:p>
            <a:pPr algn="ctr">
              <a:spcAft>
                <a:spcPts val="500"/>
              </a:spcAft>
              <a:defRPr sz="1000" b="0">
                <a:solidFill>
                  <a:srgbClr val="F8FAFD"/>
                </a:solidFill>
                <a:latin typeface="Aptos"/>
              </a:defRPr>
            </a:pPr>
            <a:r>
              <a:t>Confirm order total</a:t>
            </a:r>
          </a:p>
        </p:txBody>
      </p:sp>
      <p:sp>
        <p:nvSpPr>
          <p:cNvPr id="10" name="Rounded Rectangle 9"/>
          <p:cNvSpPr/>
          <p:nvPr/>
        </p:nvSpPr>
        <p:spPr>
          <a:xfrm>
            <a:off x="3017520" y="1828800"/>
            <a:ext cx="2057400" cy="1051560"/>
          </a:xfrm>
          <a:prstGeom prst="roundRect">
            <a:avLst/>
          </a:prstGeom>
          <a:solidFill>
            <a:srgbClr val="F4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090672" y="1938528"/>
            <a:ext cx="1911095" cy="274320"/>
          </a:xfrm>
          <a:prstGeom prst="rect">
            <a:avLst/>
          </a:prstGeom>
          <a:noFill/>
        </p:spPr>
        <p:txBody>
          <a:bodyPr wrap="square" lIns="36576" tIns="36576" rIns="36576" bIns="36576" anchor="t">
            <a:spAutoFit/>
          </a:bodyPr>
          <a:lstStyle/>
          <a:p>
            <a:pPr algn="ctr">
              <a:spcAft>
                <a:spcPts val="500"/>
              </a:spcAft>
              <a:defRPr sz="1400" b="1">
                <a:solidFill>
                  <a:srgbClr val="F8FAFD"/>
                </a:solidFill>
                <a:latin typeface="Aptos"/>
              </a:defRPr>
            </a:pPr>
            <a:r>
              <a:t>UPI app</a:t>
            </a:r>
          </a:p>
        </p:txBody>
      </p:sp>
      <p:sp>
        <p:nvSpPr>
          <p:cNvPr id="12" name="TextBox 11"/>
          <p:cNvSpPr txBox="1"/>
          <p:nvPr/>
        </p:nvSpPr>
        <p:spPr>
          <a:xfrm>
            <a:off x="3090672" y="2267712"/>
            <a:ext cx="1911095" cy="576071"/>
          </a:xfrm>
          <a:prstGeom prst="rect">
            <a:avLst/>
          </a:prstGeom>
          <a:noFill/>
        </p:spPr>
        <p:txBody>
          <a:bodyPr wrap="square" lIns="36576" tIns="36576" rIns="36576" bIns="36576" anchor="t">
            <a:spAutoFit/>
          </a:bodyPr>
          <a:lstStyle/>
          <a:p>
            <a:pPr algn="ctr">
              <a:spcAft>
                <a:spcPts val="500"/>
              </a:spcAft>
              <a:defRPr sz="1000" b="0">
                <a:solidFill>
                  <a:srgbClr val="F8FAFD"/>
                </a:solidFill>
                <a:latin typeface="Aptos"/>
              </a:defRPr>
            </a:pPr>
            <a:r>
              <a:t>Customer authorizes</a:t>
            </a:r>
          </a:p>
        </p:txBody>
      </p:sp>
      <p:sp>
        <p:nvSpPr>
          <p:cNvPr id="13" name="Rounded Rectangle 12"/>
          <p:cNvSpPr/>
          <p:nvPr/>
        </p:nvSpPr>
        <p:spPr>
          <a:xfrm>
            <a:off x="5440680" y="1828800"/>
            <a:ext cx="2423160" cy="1051560"/>
          </a:xfrm>
          <a:prstGeom prst="roundRect">
            <a:avLst/>
          </a:prstGeom>
          <a:solidFill>
            <a:srgbClr val="2CB0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13832" y="1938528"/>
            <a:ext cx="2276856" cy="274320"/>
          </a:xfrm>
          <a:prstGeom prst="rect">
            <a:avLst/>
          </a:prstGeom>
          <a:noFill/>
        </p:spPr>
        <p:txBody>
          <a:bodyPr wrap="square" lIns="36576" tIns="36576" rIns="36576" bIns="36576" anchor="t">
            <a:spAutoFit/>
          </a:bodyPr>
          <a:lstStyle/>
          <a:p>
            <a:pPr algn="ctr">
              <a:spcAft>
                <a:spcPts val="500"/>
              </a:spcAft>
              <a:defRPr sz="1400" b="1">
                <a:solidFill>
                  <a:srgbClr val="F8FAFD"/>
                </a:solidFill>
                <a:latin typeface="Aptos"/>
              </a:defRPr>
            </a:pPr>
            <a:r>
              <a:t>Backend verifies</a:t>
            </a:r>
          </a:p>
        </p:txBody>
      </p:sp>
      <p:sp>
        <p:nvSpPr>
          <p:cNvPr id="15" name="TextBox 14"/>
          <p:cNvSpPr txBox="1"/>
          <p:nvPr/>
        </p:nvSpPr>
        <p:spPr>
          <a:xfrm>
            <a:off x="5513832" y="2267712"/>
            <a:ext cx="2276856" cy="576071"/>
          </a:xfrm>
          <a:prstGeom prst="rect">
            <a:avLst/>
          </a:prstGeom>
          <a:noFill/>
        </p:spPr>
        <p:txBody>
          <a:bodyPr wrap="square" lIns="36576" tIns="36576" rIns="36576" bIns="36576" anchor="t">
            <a:spAutoFit/>
          </a:bodyPr>
          <a:lstStyle/>
          <a:p>
            <a:pPr algn="ctr">
              <a:spcAft>
                <a:spcPts val="500"/>
              </a:spcAft>
              <a:defRPr sz="1000" b="0">
                <a:solidFill>
                  <a:srgbClr val="F8FAFD"/>
                </a:solidFill>
                <a:latin typeface="Aptos"/>
              </a:defRPr>
            </a:pPr>
            <a:r>
              <a:t>Check order/payment status</a:t>
            </a:r>
          </a:p>
        </p:txBody>
      </p:sp>
      <p:sp>
        <p:nvSpPr>
          <p:cNvPr id="16" name="Rounded Rectangle 15"/>
          <p:cNvSpPr/>
          <p:nvPr/>
        </p:nvSpPr>
        <p:spPr>
          <a:xfrm>
            <a:off x="8229600" y="1828800"/>
            <a:ext cx="2743200" cy="1051560"/>
          </a:xfrm>
          <a:prstGeom prst="roundRect">
            <a:avLst/>
          </a:prstGeom>
          <a:solidFill>
            <a:srgbClr val="37C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1938528"/>
            <a:ext cx="2596896" cy="274320"/>
          </a:xfrm>
          <a:prstGeom prst="rect">
            <a:avLst/>
          </a:prstGeom>
          <a:noFill/>
        </p:spPr>
        <p:txBody>
          <a:bodyPr wrap="square" lIns="36576" tIns="36576" rIns="36576" bIns="36576" anchor="t">
            <a:spAutoFit/>
          </a:bodyPr>
          <a:lstStyle/>
          <a:p>
            <a:pPr algn="ctr">
              <a:spcAft>
                <a:spcPts val="500"/>
              </a:spcAft>
              <a:defRPr sz="1400" b="1">
                <a:solidFill>
                  <a:srgbClr val="F8FAFD"/>
                </a:solidFill>
                <a:latin typeface="Aptos"/>
              </a:defRPr>
            </a:pPr>
            <a:r>
              <a:t>Success UI</a:t>
            </a:r>
          </a:p>
        </p:txBody>
      </p:sp>
      <p:sp>
        <p:nvSpPr>
          <p:cNvPr id="18" name="TextBox 17"/>
          <p:cNvSpPr txBox="1"/>
          <p:nvPr/>
        </p:nvSpPr>
        <p:spPr>
          <a:xfrm>
            <a:off x="8302752" y="2267712"/>
            <a:ext cx="2596896" cy="576071"/>
          </a:xfrm>
          <a:prstGeom prst="rect">
            <a:avLst/>
          </a:prstGeom>
          <a:noFill/>
        </p:spPr>
        <p:txBody>
          <a:bodyPr wrap="square" lIns="36576" tIns="36576" rIns="36576" bIns="36576" anchor="t">
            <a:spAutoFit/>
          </a:bodyPr>
          <a:lstStyle/>
          <a:p>
            <a:pPr algn="ctr">
              <a:spcAft>
                <a:spcPts val="500"/>
              </a:spcAft>
              <a:defRPr sz="1000" b="0">
                <a:solidFill>
                  <a:srgbClr val="F8FAFD"/>
                </a:solidFill>
                <a:latin typeface="Aptos"/>
              </a:defRPr>
            </a:pPr>
            <a:r>
              <a:t>Display returned pickup code</a:t>
            </a:r>
          </a:p>
        </p:txBody>
      </p:sp>
      <p:cxnSp>
        <p:nvCxnSpPr>
          <p:cNvPr id="19" name="Connector 18"/>
          <p:cNvCxnSpPr/>
          <p:nvPr/>
        </p:nvCxnSpPr>
        <p:spPr>
          <a:xfrm>
            <a:off x="2651760" y="2331720"/>
            <a:ext cx="365760" cy="0"/>
          </a:xfrm>
          <a:prstGeom prst="line">
            <a:avLst/>
          </a:prstGeom>
          <a:ln w="25400">
            <a:solidFill>
              <a:srgbClr val="37C7D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074920" y="2331720"/>
            <a:ext cx="365760" cy="0"/>
          </a:xfrm>
          <a:prstGeom prst="line">
            <a:avLst/>
          </a:prstGeom>
          <a:ln w="25400">
            <a:solidFill>
              <a:srgbClr val="37C7D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63840" y="2331720"/>
            <a:ext cx="365760" cy="0"/>
          </a:xfrm>
          <a:prstGeom prst="line">
            <a:avLst/>
          </a:prstGeom>
          <a:ln w="25400">
            <a:solidFill>
              <a:srgbClr val="37C7D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2960" y="3657600"/>
            <a:ext cx="4937760" cy="1371600"/>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22960" y="3657600"/>
            <a:ext cx="54864" cy="1371600"/>
          </a:xfrm>
          <a:prstGeom prst="rect">
            <a:avLst/>
          </a:prstGeom>
          <a:solidFill>
            <a:srgbClr val="F4B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3794760"/>
            <a:ext cx="4617720" cy="274320"/>
          </a:xfrm>
          <a:prstGeom prst="rect">
            <a:avLst/>
          </a:prstGeom>
          <a:noFill/>
        </p:spPr>
        <p:txBody>
          <a:bodyPr wrap="square" lIns="36576" tIns="36576" rIns="36576" bIns="36576" anchor="t">
            <a:spAutoFit/>
          </a:bodyPr>
          <a:lstStyle/>
          <a:p>
            <a:pPr algn="l">
              <a:spcAft>
                <a:spcPts val="500"/>
              </a:spcAft>
              <a:defRPr sz="1500" b="1">
                <a:solidFill>
                  <a:srgbClr val="F8FAFD"/>
                </a:solidFill>
                <a:latin typeface="Aptos"/>
              </a:defRPr>
            </a:pPr>
            <a:r>
              <a:t>Payment rules</a:t>
            </a:r>
          </a:p>
        </p:txBody>
      </p:sp>
      <p:sp>
        <p:nvSpPr>
          <p:cNvPr id="25" name="TextBox 24"/>
          <p:cNvSpPr txBox="1"/>
          <p:nvPr/>
        </p:nvSpPr>
        <p:spPr>
          <a:xfrm>
            <a:off x="1005840" y="4160520"/>
            <a:ext cx="4590288" cy="777240"/>
          </a:xfrm>
          <a:prstGeom prst="rect">
            <a:avLst/>
          </a:prstGeom>
          <a:noFill/>
        </p:spPr>
        <p:txBody>
          <a:bodyPr wrap="square" lIns="36576" tIns="36576" rIns="36576" bIns="36576" anchor="t">
            <a:spAutoFit/>
          </a:bodyPr>
          <a:lstStyle/>
          <a:p>
            <a:pPr algn="l">
              <a:spcAft>
                <a:spcPts val="500"/>
              </a:spcAft>
              <a:defRPr sz="1300" b="0">
                <a:solidFill>
                  <a:srgbClr val="E0EAF6"/>
                </a:solidFill>
                <a:latin typeface="Aptos"/>
              </a:defRPr>
            </a:pPr>
            <a:r>
              <a:t>Handle pending, cancelled, and failed payments. Show success only after backend confirmation.</a:t>
            </a:r>
          </a:p>
        </p:txBody>
      </p:sp>
      <p:sp>
        <p:nvSpPr>
          <p:cNvPr id="26" name="Rounded Rectangle 25"/>
          <p:cNvSpPr/>
          <p:nvPr/>
        </p:nvSpPr>
        <p:spPr>
          <a:xfrm>
            <a:off x="6355080" y="3657600"/>
            <a:ext cx="4937760" cy="1371600"/>
          </a:xfrm>
          <a:prstGeom prst="roundRect">
            <a:avLst/>
          </a:prstGeom>
          <a:solidFill>
            <a:srgbClr val="182B46"/>
          </a:solidFill>
          <a:ln>
            <a:solidFill>
              <a:srgbClr val="3147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355080" y="3657600"/>
            <a:ext cx="54864" cy="1371600"/>
          </a:xfrm>
          <a:prstGeom prst="rect">
            <a:avLst/>
          </a:prstGeom>
          <a:solidFill>
            <a:srgbClr val="2CB0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37960" y="3794760"/>
            <a:ext cx="4617720" cy="274320"/>
          </a:xfrm>
          <a:prstGeom prst="rect">
            <a:avLst/>
          </a:prstGeom>
          <a:noFill/>
        </p:spPr>
        <p:txBody>
          <a:bodyPr wrap="square" lIns="36576" tIns="36576" rIns="36576" bIns="36576" anchor="t">
            <a:spAutoFit/>
          </a:bodyPr>
          <a:lstStyle/>
          <a:p>
            <a:pPr algn="l">
              <a:spcAft>
                <a:spcPts val="500"/>
              </a:spcAft>
              <a:defRPr sz="1500" b="1">
                <a:solidFill>
                  <a:srgbClr val="F8FAFD"/>
                </a:solidFill>
                <a:latin typeface="Aptos"/>
              </a:defRPr>
            </a:pPr>
            <a:r>
              <a:t>Pickup code rules</a:t>
            </a:r>
          </a:p>
        </p:txBody>
      </p:sp>
      <p:sp>
        <p:nvSpPr>
          <p:cNvPr id="29" name="TextBox 28"/>
          <p:cNvSpPr txBox="1"/>
          <p:nvPr/>
        </p:nvSpPr>
        <p:spPr>
          <a:xfrm>
            <a:off x="6537960" y="4160520"/>
            <a:ext cx="4590288" cy="777240"/>
          </a:xfrm>
          <a:prstGeom prst="rect">
            <a:avLst/>
          </a:prstGeom>
          <a:noFill/>
        </p:spPr>
        <p:txBody>
          <a:bodyPr wrap="square" lIns="36576" tIns="36576" rIns="36576" bIns="36576" anchor="t">
            <a:spAutoFit/>
          </a:bodyPr>
          <a:lstStyle/>
          <a:p>
            <a:pPr algn="l">
              <a:spcAft>
                <a:spcPts val="500"/>
              </a:spcAft>
              <a:defRPr sz="1300" b="0">
                <a:solidFill>
                  <a:srgbClr val="E0EAF6"/>
                </a:solidFill>
                <a:latin typeface="Aptos"/>
              </a:defRPr>
            </a:pPr>
            <a:r>
              <a:t>Display the unique 4-digit code returned by the existing backend. Never fabricate it in frontend code.</a:t>
            </a:r>
          </a:p>
        </p:txBody>
      </p:sp>
      <p:sp>
        <p:nvSpPr>
          <p:cNvPr id="30" name="TextBox 29"/>
          <p:cNvSpPr txBox="1"/>
          <p:nvPr/>
        </p:nvSpPr>
        <p:spPr>
          <a:xfrm>
            <a:off x="868680" y="5440680"/>
            <a:ext cx="10241280" cy="548640"/>
          </a:xfrm>
          <a:prstGeom prst="rect">
            <a:avLst/>
          </a:prstGeom>
          <a:noFill/>
        </p:spPr>
        <p:txBody>
          <a:bodyPr wrap="square" lIns="36576" tIns="36576" rIns="36576" bIns="36576" anchor="t">
            <a:spAutoFit/>
          </a:bodyPr>
          <a:lstStyle/>
          <a:p>
            <a:pPr algn="l">
              <a:spcAft>
                <a:spcPts val="500"/>
              </a:spcAft>
              <a:defRPr sz="1300" b="1">
                <a:solidFill>
                  <a:srgbClr val="F8FAFD"/>
                </a:solidFill>
                <a:latin typeface="Aptos"/>
              </a:defRPr>
            </a:pPr>
            <a:r>
              <a:t>If the current backend does not generate or return a pickup code, that is a separate backend requirement—not just a frontend change.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501</TotalTime>
  <Words>939</Words>
  <Application>Microsoft Office PowerPoint</Application>
  <PresentationFormat>Widescreen</PresentationFormat>
  <Paragraphs>99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Srikanth Gangishetty</cp:lastModifiedBy>
  <cp:revision>7</cp:revision>
  <dcterms:created xsi:type="dcterms:W3CDTF">2013-01-27T09:14:16Z</dcterms:created>
  <dcterms:modified xsi:type="dcterms:W3CDTF">2026-10-27T06:26:14Z</dcterms:modified>
  <cp:category/>
</cp:coreProperties>
</file>
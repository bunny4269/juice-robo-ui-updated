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49640" y="731520"/>
            <a:ext cx="2560320" cy="2560320"/>
          </a:xfrm>
          <a:prstGeom prst="ellipse">
            <a:avLst/>
          </a:prstGeom>
          <a:solidFill>
            <a:srgbClr val="18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2423160"/>
            <a:ext cx="1828800" cy="1828800"/>
          </a:xfrm>
          <a:prstGeom prst="ellipse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18120" y="4069080"/>
            <a:ext cx="1645920" cy="1645920"/>
          </a:xfrm>
          <a:prstGeom prst="ellipse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69494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200" b="1">
                <a:solidFill>
                  <a:srgbClr val="37C7D8"/>
                </a:solidFill>
                <a:latin typeface="Aptos"/>
              </a:defRPr>
            </a:pPr>
            <a:r>
              <a:t>PROJECT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7772400" cy="1371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3200" b="1">
                <a:solidFill>
                  <a:srgbClr val="F8FAFD"/>
                </a:solidFill>
                <a:latin typeface="Aptos"/>
              </a:defRPr>
            </a:pPr>
            <a:r>
              <a:t>JUICE ROBO</a:t>
            </a:r>
          </a:p>
          <a:p>
            <a:pPr algn="l">
              <a:spcAft>
                <a:spcPts val="500"/>
              </a:spcAft>
              <a:defRPr sz="3200" b="1">
                <a:solidFill>
                  <a:srgbClr val="F8FAFD"/>
                </a:solidFill>
                <a:latin typeface="Aptos"/>
              </a:defRPr>
            </a:pPr>
            <a:r>
              <a:t>FRONTEND REDESIGN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3154680"/>
            <a:ext cx="676656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E0EAF6"/>
                </a:solidFill>
                <a:latin typeface="Aptos"/>
              </a:defRPr>
            </a:pPr>
            <a:r>
              <a:t>Modernizing the customer experience while reusing the existing e-commerce 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667512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9DB1CA"/>
                </a:solidFill>
                <a:latin typeface="Aptos"/>
              </a:defRPr>
            </a:pPr>
            <a:r>
              <a:t>UI improvements • Existing APIs • UPI flow • Pickup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6236208"/>
            <a:ext cx="621792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SHORT TECHNICAL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Frontend redesign—not a replacement for the existing e-commerce service.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91640"/>
            <a:ext cx="3429000" cy="182880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54864" cy="1828800"/>
          </a:xfrm>
          <a:prstGeom prst="rect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Redesigned 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194560"/>
            <a:ext cx="3081528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Updated responsive screens, layout, product cards, navigation, and user 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91640"/>
            <a:ext cx="3429000" cy="182880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691640"/>
            <a:ext cx="54864" cy="1828800"/>
          </a:xfrm>
          <a:prstGeom prst="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28800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Existing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081528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Reuse current APIs, database, order processing, and payment behavior.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1691640"/>
            <a:ext cx="3429000" cy="182880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691640"/>
            <a:ext cx="54864" cy="1828800"/>
          </a:xfrm>
          <a:prstGeom prst="rect">
            <a:avLst/>
          </a:prstGeom>
          <a:solidFill>
            <a:srgbClr val="F4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79" y="1828800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Integration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2194560"/>
            <a:ext cx="3081528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Keep the current business logic and API contracts working with the new UI.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069080"/>
            <a:ext cx="102412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37C7D8"/>
                </a:solidFill>
                <a:latin typeface="Aptos"/>
              </a:defRPr>
            </a:pPr>
            <a:r>
              <a:t>Guiding principle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4526280"/>
            <a:ext cx="103327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F8FAFD"/>
                </a:solidFill>
                <a:latin typeface="Aptos"/>
              </a:defRPr>
            </a:pPr>
            <a:r>
              <a:t>Change the presentation layer. Do not duplicate backend functionality or introduce new authentication/payment flows without a verified need.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557784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9DB1CA"/>
                </a:solidFill>
                <a:latin typeface="Aptos"/>
              </a:defRPr>
            </a:pPr>
            <a:r>
              <a:t>Note: the supplied screenshots show location/QR access, menu, cart, and profile. Login screenshots were not identifiable in this upload set.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How the redesigned UI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The frontend consumes existing APIs and displays their responses.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2423160" cy="1051560"/>
          </a:xfrm>
          <a:prstGeom prst="roundRect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227685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Redesigned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2276856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Location • Menu • Cart • Profile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1920240"/>
            <a:ext cx="2423160" cy="1051560"/>
          </a:xfrm>
          <a:prstGeom prst="round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029968"/>
            <a:ext cx="227685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Existing APIs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2359152"/>
            <a:ext cx="2276856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Requests and responses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920240"/>
            <a:ext cx="2606040" cy="1051560"/>
          </a:xfrm>
          <a:prstGeom prst="round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2029968"/>
            <a:ext cx="245973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Existing 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2359152"/>
            <a:ext cx="2459736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Database • Orders • Payment status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54680" y="2304288"/>
            <a:ext cx="1508760" cy="0"/>
          </a:xfrm>
          <a:prstGeom prst="line">
            <a:avLst/>
          </a:prstGeom>
          <a:ln w="25400">
            <a:solidFill>
              <a:srgbClr val="37C7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086600" y="2304288"/>
            <a:ext cx="1508760" cy="0"/>
          </a:xfrm>
          <a:prstGeom prst="line">
            <a:avLst/>
          </a:prstGeom>
          <a:ln w="25400">
            <a:solidFill>
              <a:srgbClr val="37C7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086600" y="2743200"/>
            <a:ext cx="1508760" cy="0"/>
          </a:xfrm>
          <a:prstGeom prst="line">
            <a:avLst/>
          </a:prstGeom>
          <a:ln w="25400">
            <a:solidFill>
              <a:srgbClr val="F4B1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54680" y="2743200"/>
            <a:ext cx="1508760" cy="0"/>
          </a:xfrm>
          <a:prstGeom prst="line">
            <a:avLst/>
          </a:prstGeom>
          <a:ln w="25400">
            <a:solidFill>
              <a:srgbClr val="F4B1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4400" y="3840480"/>
            <a:ext cx="4754880" cy="128016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840480"/>
            <a:ext cx="54864" cy="1280160"/>
          </a:xfrm>
          <a:prstGeom prst="rect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977640"/>
            <a:ext cx="4434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Location and menu APIs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343400"/>
            <a:ext cx="4407408" cy="6857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E0EAF6"/>
                </a:solidFill>
                <a:latin typeface="Aptos"/>
              </a:defRPr>
            </a:pPr>
            <a:r>
              <a:t>Outlet ID selects the correct menu; products and prices come from the API.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3840480"/>
            <a:ext cx="4754880" cy="128016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840480"/>
            <a:ext cx="54864" cy="1280160"/>
          </a:xfrm>
          <a:prstGeom prst="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977640"/>
            <a:ext cx="4434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Cart and order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343400"/>
            <a:ext cx="4407408" cy="68579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E0EAF6"/>
                </a:solidFill>
                <a:latin typeface="Aptos"/>
              </a:defRPr>
            </a:pPr>
            <a:r>
              <a:t>Keep add-to-cart, order submission, and status verification on existing service flows.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Location access: previous vs redesigned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Move from a manual location choice toward QR-based outlet access.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4B142"/>
                </a:solidFill>
                <a:latin typeface="Aptos"/>
              </a:defRPr>
            </a:pPr>
            <a:r>
              <a:t>PREVIOUS UI</a:t>
            </a:r>
          </a:p>
        </p:txBody>
      </p:sp>
      <p:pic>
        <p:nvPicPr>
          <p:cNvPr id="8" name="Picture 7" descr="old_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183" y="1783080"/>
            <a:ext cx="2332672" cy="4251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85118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2CB07D"/>
                </a:solidFill>
                <a:latin typeface="Aptos"/>
              </a:defRPr>
            </a:pPr>
            <a:r>
              <a:t>REDESIGNED UI</a:t>
            </a:r>
          </a:p>
        </p:txBody>
      </p:sp>
      <p:pic>
        <p:nvPicPr>
          <p:cNvPr id="11" name="Picture 10" descr="new_lo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143" y="1783080"/>
            <a:ext cx="2332672" cy="4251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24614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5715000"/>
            <a:ext cx="8549640" cy="59436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5715000"/>
            <a:ext cx="54864" cy="59436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852160"/>
            <a:ext cx="8229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217920"/>
            <a:ext cx="8202167" cy="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E0EAF6"/>
                </a:solidFill>
                <a:latin typeface="Aptos"/>
              </a:defRPr>
            </a:pPr>
            <a:r>
              <a:t>The QR flow is designed to resolve the outlet ID and open the matching menu.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Menu screen: previous vs redesigned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Keep product data dynamic while improving readability and shopping flow.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4B142"/>
                </a:solidFill>
                <a:latin typeface="Aptos"/>
              </a:defRPr>
            </a:pPr>
            <a:r>
              <a:t>PREVIOUS UI</a:t>
            </a:r>
          </a:p>
        </p:txBody>
      </p:sp>
      <p:pic>
        <p:nvPicPr>
          <p:cNvPr id="8" name="Picture 7" descr="old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183" y="1783080"/>
            <a:ext cx="2332672" cy="4251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85118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2CB07D"/>
                </a:solidFill>
                <a:latin typeface="Aptos"/>
              </a:defRPr>
            </a:pPr>
            <a:r>
              <a:t>REDESIGNED UI</a:t>
            </a:r>
          </a:p>
        </p:txBody>
      </p:sp>
      <p:pic>
        <p:nvPicPr>
          <p:cNvPr id="11" name="Picture 10" descr="new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143" y="1783080"/>
            <a:ext cx="2332672" cy="42519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24614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5715000"/>
            <a:ext cx="8549640" cy="59436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5715000"/>
            <a:ext cx="54864" cy="59436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852160"/>
            <a:ext cx="8229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217920"/>
            <a:ext cx="8202167" cy="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E0EAF6"/>
                </a:solidFill>
                <a:latin typeface="Aptos"/>
              </a:defRPr>
            </a:pPr>
            <a:r>
              <a:t>The UI redesign changes presentation; item names, prices, and availability should still come from the existing menu API.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Cart screen: previous vs redesigned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rPr sz="1100">
                <a:solidFill>
                  <a:srgbClr val="E0EAF6"/>
                </a:solidFill>
                <a:latin typeface="Aptos"/>
              </a:rPr>
              <a:t>Latest cart UI: outlet/machine, item quantity, GST breakdown, and total in one flow.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4B142"/>
                </a:solidFill>
                <a:latin typeface="Aptos"/>
              </a:defRPr>
            </a:pPr>
            <a:r>
              <a:t>PREVIOUS UI</a:t>
            </a:r>
          </a:p>
        </p:txBody>
      </p:sp>
      <p:pic>
        <p:nvPicPr>
          <p:cNvPr id="8" name="Picture 7" descr="old_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1183" y="1783080"/>
            <a:ext cx="2332672" cy="42519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85118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444752"/>
            <a:ext cx="3931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2CB07D"/>
                </a:solidFill>
                <a:latin typeface="Aptos"/>
              </a:defRPr>
            </a:pPr>
            <a:r>
              <a:t>REDESIGNED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46143" y="1783080"/>
            <a:ext cx="2332672" cy="4251960"/>
          </a:xfrm>
          <a:prstGeom prst="roundRect">
            <a:avLst/>
          </a:prstGeom>
          <a:noFill/>
          <a:ln w="15240">
            <a:solidFill>
              <a:srgbClr val="4157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828800" y="5715000"/>
            <a:ext cx="8549640" cy="59436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828800" y="5715000"/>
            <a:ext cx="54864" cy="59436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5852160"/>
            <a:ext cx="8229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What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217920"/>
            <a:ext cx="8202167" cy="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E0EAF6"/>
                </a:solidFill>
                <a:latin typeface="Aptos"/>
              </a:defRPr>
            </a:pPr>
            <a:r>
              <a:rPr sz="900">
                <a:solidFill>
                  <a:srgbClr val="E0EAF6"/>
                </a:solidFill>
                <a:latin typeface="Aptos"/>
              </a:rPr>
              <a:t>The redesigned cart now highlights collection point, quantity controls, subtotal, 5% GST, total, and a clear Continue action. Existing backend order/payment logic remains unchanged.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143" y="1783080"/>
            <a:ext cx="2332672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New addition: profile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A redesigned account area extends the existing customer experience.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7" name="Picture 6" descr="new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08760"/>
            <a:ext cx="3291840" cy="600031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54880" y="1828800"/>
            <a:ext cx="5943600" cy="118872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1828800"/>
            <a:ext cx="54864" cy="1188720"/>
          </a:xfrm>
          <a:prstGeom prst="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1965960"/>
            <a:ext cx="5623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Profile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331720"/>
            <a:ext cx="5596128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Displays customer name and email, with a profile save action.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3246120"/>
            <a:ext cx="5943600" cy="118872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3246120"/>
            <a:ext cx="54864" cy="1188720"/>
          </a:xfrm>
          <a:prstGeom prst="rect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3383279"/>
            <a:ext cx="56235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Account navigation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749039"/>
            <a:ext cx="5596128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Provides access to saved orders and sign-out from the account screen.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800600"/>
            <a:ext cx="5852160" cy="6858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E0EAF6"/>
                </a:solidFill>
                <a:latin typeface="Aptos"/>
              </a:defRPr>
            </a:pPr>
            <a:r>
              <a:t>Integration check: confirm profile data and save actions use the existing supported account APIs and session flow.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9728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F8FAFD"/>
                </a:solidFill>
                <a:latin typeface="Aptos"/>
              </a:defRPr>
            </a:pPr>
            <a:r>
              <a:t>UPI payment and 4-digit pickup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7899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100" b="0">
                <a:solidFill>
                  <a:srgbClr val="9DB1CA"/>
                </a:solidFill>
                <a:latin typeface="Aptos"/>
              </a:defRPr>
            </a:pPr>
            <a:r>
              <a:t>Open the payment app, then trust the backend—not the app handoff.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43584"/>
            <a:ext cx="777240" cy="45720"/>
          </a:xfrm>
          <a:prstGeom prst="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6510528"/>
            <a:ext cx="7772400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800" b="1">
                <a:solidFill>
                  <a:srgbClr val="9DB1CA"/>
                </a:solidFill>
                <a:latin typeface="Aptos"/>
              </a:defRPr>
            </a:pPr>
            <a:r>
              <a:t>JUICE ROBO • FRONTEND REDESIGN + EXISTING API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4114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>
              <a:spcAft>
                <a:spcPts val="500"/>
              </a:spcAft>
              <a:defRPr sz="900" b="1">
                <a:solidFill>
                  <a:srgbClr val="9DB1CA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2057400" cy="1051560"/>
          </a:xfrm>
          <a:prstGeom prst="roundRect">
            <a:avLst/>
          </a:prstGeom>
          <a:solidFill>
            <a:srgbClr val="377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938528"/>
            <a:ext cx="1911095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Checkout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267712"/>
            <a:ext cx="1911095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Confirm order total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17520" y="1828800"/>
            <a:ext cx="2057400" cy="1051560"/>
          </a:xfrm>
          <a:prstGeom prst="roundRect">
            <a:avLst/>
          </a:prstGeom>
          <a:solidFill>
            <a:srgbClr val="F4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90672" y="1938528"/>
            <a:ext cx="1911095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UPI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2267712"/>
            <a:ext cx="1911095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Customer authorizes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1828800"/>
            <a:ext cx="2423160" cy="1051560"/>
          </a:xfrm>
          <a:prstGeom prst="round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13832" y="1938528"/>
            <a:ext cx="227685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Backend verifies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13832" y="2267712"/>
            <a:ext cx="2276856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Check order/payment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828800"/>
            <a:ext cx="2743200" cy="1051560"/>
          </a:xfrm>
          <a:prstGeom prst="roundRect">
            <a:avLst/>
          </a:prstGeom>
          <a:solidFill>
            <a:srgbClr val="37C7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1938528"/>
            <a:ext cx="2596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400" b="1">
                <a:solidFill>
                  <a:srgbClr val="F8FAFD"/>
                </a:solidFill>
                <a:latin typeface="Aptos"/>
              </a:defRPr>
            </a:pPr>
            <a:r>
              <a:t>Success UI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267712"/>
            <a:ext cx="2596896" cy="576071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>
              <a:spcAft>
                <a:spcPts val="500"/>
              </a:spcAft>
              <a:defRPr sz="1000" b="0">
                <a:solidFill>
                  <a:srgbClr val="F8FAFD"/>
                </a:solidFill>
                <a:latin typeface="Aptos"/>
              </a:defRPr>
            </a:pPr>
            <a:r>
              <a:t>Display returned pickup code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51760" y="2331720"/>
            <a:ext cx="365760" cy="0"/>
          </a:xfrm>
          <a:prstGeom prst="line">
            <a:avLst/>
          </a:prstGeom>
          <a:ln w="25400">
            <a:solidFill>
              <a:srgbClr val="37C7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074920" y="2331720"/>
            <a:ext cx="365760" cy="0"/>
          </a:xfrm>
          <a:prstGeom prst="line">
            <a:avLst/>
          </a:prstGeom>
          <a:ln w="25400">
            <a:solidFill>
              <a:srgbClr val="37C7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863840" y="2331720"/>
            <a:ext cx="365760" cy="0"/>
          </a:xfrm>
          <a:prstGeom prst="line">
            <a:avLst/>
          </a:prstGeom>
          <a:ln w="25400">
            <a:solidFill>
              <a:srgbClr val="37C7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960" y="3657600"/>
            <a:ext cx="4937760" cy="137160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657600"/>
            <a:ext cx="54864" cy="1371600"/>
          </a:xfrm>
          <a:prstGeom prst="rect">
            <a:avLst/>
          </a:prstGeom>
          <a:solidFill>
            <a:srgbClr val="F4B1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794760"/>
            <a:ext cx="4617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Payment rules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160520"/>
            <a:ext cx="4590288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E0EAF6"/>
                </a:solidFill>
                <a:latin typeface="Aptos"/>
              </a:defRPr>
            </a:pPr>
            <a:r>
              <a:t>Handle pending, cancelled, and failed payments. Show success only after backend confirmation.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657600"/>
            <a:ext cx="4937760" cy="1371600"/>
          </a:xfrm>
          <a:prstGeom prst="roundRect">
            <a:avLst/>
          </a:prstGeom>
          <a:solidFill>
            <a:srgbClr val="182B46"/>
          </a:solidFill>
          <a:ln>
            <a:solidFill>
              <a:srgbClr val="3147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80" y="3657600"/>
            <a:ext cx="54864" cy="1371600"/>
          </a:xfrm>
          <a:prstGeom prst="rect">
            <a:avLst/>
          </a:prstGeom>
          <a:solidFill>
            <a:srgbClr val="2CB0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794760"/>
            <a:ext cx="4617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F8FAFD"/>
                </a:solidFill>
                <a:latin typeface="Aptos"/>
              </a:defRPr>
            </a:pPr>
            <a:r>
              <a:t>Pickup code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4160520"/>
            <a:ext cx="4590288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E0EAF6"/>
                </a:solidFill>
                <a:latin typeface="Aptos"/>
              </a:defRPr>
            </a:pPr>
            <a:r>
              <a:t>Display the unique 4-digit code returned by the existing backend. Never fabricate it in frontend code.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440680"/>
            <a:ext cx="1024128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>
              <a:spcAft>
                <a:spcPts val="500"/>
              </a:spcAft>
              <a:defRPr sz="1300" b="1">
                <a:solidFill>
                  <a:srgbClr val="F8FAFD"/>
                </a:solidFill>
                <a:latin typeface="Aptos"/>
              </a:defRPr>
            </a:pPr>
            <a:r>
              <a:t>If the current backend does not generate or return a pickup code, that is a separate backend requirement—not just a frontend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